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45">
          <p15:clr>
            <a:srgbClr val="A4A3A4"/>
          </p15:clr>
        </p15:guide>
        <p15:guide id="2" orient="horz" pos="1026">
          <p15:clr>
            <a:srgbClr val="A4A3A4"/>
          </p15:clr>
        </p15:guide>
        <p15:guide id="3" pos="3840">
          <p15:clr>
            <a:srgbClr val="A4A3A4"/>
          </p15:clr>
        </p15:guide>
        <p15:guide id="4" pos="7015">
          <p15:clr>
            <a:srgbClr val="A4A3A4"/>
          </p15:clr>
        </p15:guide>
        <p15:guide id="5" pos="597">
          <p15:clr>
            <a:srgbClr val="A4A3A4"/>
          </p15:clr>
        </p15:guide>
      </p15:sldGuideLst>
    </p:ext>
    <p:ext uri="GoogleSlidesCustomDataVersion2">
      <go:slidesCustomData xmlns:go="http://customooxmlschemas.google.com/" r:id="rId29" roundtripDataSignature="AMtx7mjPZC2vRBrQlE68pp9XxdT+MA4g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45" orient="horz"/>
        <p:guide pos="1026" orient="horz"/>
        <p:guide pos="3840"/>
        <p:guide pos="7015"/>
        <p:guide pos="59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b24660f54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2b24660f54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2b24660f54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b76a24d3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2b76a24d3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2b76a24d3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b76a24d38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2b76a24d38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2b76a24d38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2b76a24d38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2b76a24d38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2b76a24d38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b76a24d38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2b76a24d38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32b76a24d38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b76a24d38_0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2b76a24d38_0_3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2b76a24d38_0_3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b76a24d38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2b76a24d38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32b76a24d38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b76a24d38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2b76a24d38_0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2b76a24d38_0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2b76a24d38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2b76a24d38_0_3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2b76a24d38_0_3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b76a24d38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2b76a24d38_0_3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2b76a24d38_0_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2b76a24d38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2b76a24d38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2b76a24d38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b76a24d38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2b76a24d38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2b76a24d38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2b76a24d38_0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2b76a24d38_0_3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2b76a24d38_0_3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76a24d38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2b76a24d38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32b76a24d38_0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b76a24d38_0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2b76a24d38_0_3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2b76a24d38_0_3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b76a24d38_0_3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2b76a24d38_0_3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2b76a24d38_0_3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b76a24d38_0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2b76a24d38_0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2b76a24d38_0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b76a24d38_0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2b76a24d38_0_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2b76a24d38_0_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b76a24d38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2b76a24d38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2b76a24d38_0_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b76a24d38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2b76a24d38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2b76a24d38_0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2a374c1dda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2a374c1dda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2a374c1dda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5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5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5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7"/>
          <p:cNvSpPr/>
          <p:nvPr>
            <p:ph idx="2" type="pic"/>
          </p:nvPr>
        </p:nvSpPr>
        <p:spPr>
          <a:xfrm>
            <a:off x="5183188" y="987425"/>
            <a:ext cx="6172200" cy="4873625"/>
          </a:xfrm>
          <a:prstGeom prst="rect">
            <a:avLst/>
          </a:prstGeom>
          <a:noFill/>
          <a:ln>
            <a:noFill/>
          </a:ln>
        </p:spPr>
      </p:sp>
      <p:sp>
        <p:nvSpPr>
          <p:cNvPr id="71" name="Google Shape;71;p5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5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
        <p:nvSpPr>
          <p:cNvPr id="15" name="Google Shape;15;p48"/>
          <p:cNvSpPr/>
          <p:nvPr/>
        </p:nvSpPr>
        <p:spPr>
          <a:xfrm>
            <a:off x="0" y="6356350"/>
            <a:ext cx="12192000" cy="501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 name="Google Shape;16;p48"/>
          <p:cNvSpPr/>
          <p:nvPr/>
        </p:nvSpPr>
        <p:spPr>
          <a:xfrm>
            <a:off x="0" y="6176962"/>
            <a:ext cx="12192000" cy="1793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Home - Nurul Fikri Academy" id="17" name="Google Shape;17;p48"/>
          <p:cNvPicPr preferRelativeResize="0"/>
          <p:nvPr/>
        </p:nvPicPr>
        <p:blipFill rotWithShape="1">
          <a:blip r:embed="rId1">
            <a:alphaModFix/>
          </a:blip>
          <a:srcRect b="0" l="0" r="0" t="0"/>
          <a:stretch/>
        </p:blipFill>
        <p:spPr>
          <a:xfrm>
            <a:off x="8961119" y="334008"/>
            <a:ext cx="2905761" cy="5088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etcomposer.org/" TargetMode="Externa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GB" sz="4800"/>
              <a:t>Pengantar Laravel</a:t>
            </a:r>
            <a:endParaRPr/>
          </a:p>
        </p:txBody>
      </p:sp>
      <p:sp>
        <p:nvSpPr>
          <p:cNvPr id="93" name="Google Shape;93;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GB"/>
              <a:t>The PHP Framework for Web Artisans</a:t>
            </a:r>
            <a:endParaRPr/>
          </a:p>
        </p:txBody>
      </p:sp>
      <p:sp>
        <p:nvSpPr>
          <p:cNvPr id="94" name="Google Shape;9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b="1" lang="en-GB" sz="1600">
                <a:solidFill>
                  <a:schemeClr val="lt1"/>
                </a:solidFill>
              </a:rPr>
              <a:t>‹#›</a:t>
            </a:fld>
            <a:endParaRPr b="1" sz="1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838200" y="681038"/>
            <a:ext cx="10515600" cy="9963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latin typeface="Calibri"/>
                <a:ea typeface="Calibri"/>
                <a:cs typeface="Calibri"/>
                <a:sym typeface="Calibri"/>
              </a:rPr>
              <a:t>TUJUAN PEMBELAJARAN</a:t>
            </a:r>
            <a:endParaRPr/>
          </a:p>
        </p:txBody>
      </p:sp>
      <p:sp>
        <p:nvSpPr>
          <p:cNvPr id="101" name="Google Shape;101;p2"/>
          <p:cNvSpPr txBox="1"/>
          <p:nvPr>
            <p:ph idx="1" type="body"/>
          </p:nvPr>
        </p:nvSpPr>
        <p:spPr>
          <a:xfrm>
            <a:off x="947738" y="1628775"/>
            <a:ext cx="10152061" cy="454818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1000"/>
              </a:spcBef>
              <a:spcAft>
                <a:spcPts val="0"/>
              </a:spcAft>
              <a:buSzPts val="2400"/>
              <a:buFont typeface="Calibri"/>
              <a:buAutoNum type="arabicPeriod"/>
            </a:pPr>
            <a:r>
              <a:rPr lang="en-GB" sz="2400"/>
              <a:t>Memahami dan mengerti tentang konsep framework. </a:t>
            </a:r>
            <a:endParaRPr sz="2400"/>
          </a:p>
          <a:p>
            <a:pPr indent="-228600" lvl="0" marL="228600" rtl="0" algn="just">
              <a:lnSpc>
                <a:spcPct val="90000"/>
              </a:lnSpc>
              <a:spcBef>
                <a:spcPts val="1000"/>
              </a:spcBef>
              <a:spcAft>
                <a:spcPts val="0"/>
              </a:spcAft>
              <a:buSzPts val="2400"/>
              <a:buFont typeface="Calibri"/>
              <a:buAutoNum type="arabicPeriod"/>
            </a:pPr>
            <a:r>
              <a:rPr lang="en-GB" sz="2400"/>
              <a:t>Memahami dan mengerti cara menginstal Laravel.</a:t>
            </a:r>
            <a:endParaRPr sz="2400"/>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b="1" lang="en-GB" sz="1600">
                <a:solidFill>
                  <a:schemeClr val="lt1"/>
                </a:solidFill>
              </a:rPr>
              <a:t>‹#›</a:t>
            </a:fld>
            <a:endParaRPr b="1" sz="1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2b24660f54_0_18"/>
          <p:cNvSpPr txBox="1"/>
          <p:nvPr>
            <p:ph type="title"/>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t>Framework</a:t>
            </a:r>
            <a:endParaRPr/>
          </a:p>
        </p:txBody>
      </p:sp>
      <p:sp>
        <p:nvSpPr>
          <p:cNvPr id="109" name="Google Shape;109;g32b24660f54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110" name="Google Shape;110;g32b24660f54_0_18"/>
          <p:cNvSpPr txBox="1"/>
          <p:nvPr>
            <p:ph idx="1" type="body"/>
          </p:nvPr>
        </p:nvSpPr>
        <p:spPr>
          <a:xfrm>
            <a:off x="947738" y="1628775"/>
            <a:ext cx="10152000" cy="4548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SzPts val="1800"/>
              <a:buNone/>
            </a:pPr>
            <a:r>
              <a:rPr lang="en-GB" sz="2400"/>
              <a:t>Framework adalah sekumpulan alat, pustaka, dan berfungsi sebagai </a:t>
            </a:r>
            <a:r>
              <a:rPr lang="en-GB" sz="2400">
                <a:highlight>
                  <a:srgbClr val="FFFF00"/>
                </a:highlight>
              </a:rPr>
              <a:t>kerangka kerja</a:t>
            </a:r>
            <a:r>
              <a:rPr lang="en-GB" sz="2400"/>
              <a:t> yang menyediakan struktur dan panduan untuk membangun aplikasi atau sistem.</a:t>
            </a:r>
            <a:endParaRPr sz="2400"/>
          </a:p>
          <a:p>
            <a:pPr indent="0" lvl="0" marL="0" rtl="0" algn="just">
              <a:lnSpc>
                <a:spcPct val="90000"/>
              </a:lnSpc>
              <a:spcBef>
                <a:spcPts val="1000"/>
              </a:spcBef>
              <a:spcAft>
                <a:spcPts val="0"/>
              </a:spcAft>
              <a:buSzPts val="1800"/>
              <a:buNone/>
            </a:pPr>
            <a:r>
              <a:t/>
            </a:r>
            <a:endParaRPr sz="2400"/>
          </a:p>
          <a:p>
            <a:pPr indent="0" lvl="0" marL="0" rtl="0" algn="just">
              <a:lnSpc>
                <a:spcPct val="90000"/>
              </a:lnSpc>
              <a:spcBef>
                <a:spcPts val="1000"/>
              </a:spcBef>
              <a:spcAft>
                <a:spcPts val="0"/>
              </a:spcAft>
              <a:buSzPts val="1800"/>
              <a:buNone/>
            </a:pPr>
            <a:r>
              <a:rPr lang="en-GB" sz="2400"/>
              <a:t>Jenis-jenis framework:</a:t>
            </a:r>
            <a:endParaRPr sz="2400"/>
          </a:p>
          <a:p>
            <a:pPr indent="-381000" lvl="0" marL="457200" rtl="0" algn="just">
              <a:lnSpc>
                <a:spcPct val="90000"/>
              </a:lnSpc>
              <a:spcBef>
                <a:spcPts val="1000"/>
              </a:spcBef>
              <a:spcAft>
                <a:spcPts val="0"/>
              </a:spcAft>
              <a:buSzPts val="2400"/>
              <a:buChar char="•"/>
            </a:pPr>
            <a:r>
              <a:rPr b="1" lang="en-GB" sz="2400"/>
              <a:t>Mobile</a:t>
            </a:r>
            <a:r>
              <a:rPr lang="en-GB" sz="2400"/>
              <a:t>: untuk aplikasi mobile (React Native, Flutter).</a:t>
            </a:r>
            <a:endParaRPr sz="2400"/>
          </a:p>
          <a:p>
            <a:pPr indent="-381000" lvl="0" marL="457200" rtl="0" algn="just">
              <a:lnSpc>
                <a:spcPct val="90000"/>
              </a:lnSpc>
              <a:spcBef>
                <a:spcPts val="0"/>
              </a:spcBef>
              <a:spcAft>
                <a:spcPts val="0"/>
              </a:spcAft>
              <a:buSzPts val="2400"/>
              <a:buChar char="•"/>
            </a:pPr>
            <a:r>
              <a:rPr b="1" lang="en-GB" sz="2400"/>
              <a:t>Web</a:t>
            </a:r>
            <a:r>
              <a:rPr lang="en-GB" sz="2400"/>
              <a:t>: untuk aplikasi web (Django, Laravel).</a:t>
            </a:r>
            <a:endParaRPr sz="2400"/>
          </a:p>
          <a:p>
            <a:pPr indent="-381000" lvl="0" marL="457200" rtl="0" algn="just">
              <a:lnSpc>
                <a:spcPct val="90000"/>
              </a:lnSpc>
              <a:spcBef>
                <a:spcPts val="0"/>
              </a:spcBef>
              <a:spcAft>
                <a:spcPts val="0"/>
              </a:spcAft>
              <a:buSzPts val="2400"/>
              <a:buChar char="•"/>
            </a:pPr>
            <a:r>
              <a:rPr b="1" lang="en-GB" sz="2400"/>
              <a:t>Frontend</a:t>
            </a:r>
            <a:r>
              <a:rPr lang="en-GB" sz="2400"/>
              <a:t>: untuk membangun antarmuka pengguna (Angular, React).</a:t>
            </a:r>
            <a:endParaRPr sz="2400"/>
          </a:p>
          <a:p>
            <a:pPr indent="-381000" lvl="0" marL="457200" rtl="0" algn="just">
              <a:lnSpc>
                <a:spcPct val="90000"/>
              </a:lnSpc>
              <a:spcBef>
                <a:spcPts val="0"/>
              </a:spcBef>
              <a:spcAft>
                <a:spcPts val="0"/>
              </a:spcAft>
              <a:buSzPts val="2400"/>
              <a:buChar char="•"/>
            </a:pPr>
            <a:r>
              <a:rPr b="1" lang="en-GB" sz="2400"/>
              <a:t>Backend</a:t>
            </a:r>
            <a:r>
              <a:rPr lang="en-GB" sz="2400"/>
              <a:t>: untuk membangun server dan logika aplikasi (Express, Spring).</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2b76a24d38_0_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
        <p:nvSpPr>
          <p:cNvPr id="117" name="Google Shape;117;g32b76a24d38_0_8"/>
          <p:cNvSpPr txBox="1"/>
          <p:nvPr>
            <p:ph idx="1" type="body"/>
          </p:nvPr>
        </p:nvSpPr>
        <p:spPr>
          <a:xfrm>
            <a:off x="4261246" y="1628775"/>
            <a:ext cx="6838500" cy="4548300"/>
          </a:xfrm>
          <a:prstGeom prst="rect">
            <a:avLst/>
          </a:prstGeom>
          <a:noFill/>
          <a:ln>
            <a:noFill/>
          </a:ln>
        </p:spPr>
        <p:txBody>
          <a:bodyPr anchorCtr="0" anchor="t" bIns="45700" lIns="91425" spcFirstLastPara="1" rIns="91425" wrap="square" tIns="45700">
            <a:normAutofit/>
          </a:bodyPr>
          <a:lstStyle/>
          <a:p>
            <a:pPr indent="0" lvl="0" marL="0" rtl="0" algn="just">
              <a:spcBef>
                <a:spcPts val="1000"/>
              </a:spcBef>
              <a:spcAft>
                <a:spcPts val="0"/>
              </a:spcAft>
              <a:buNone/>
            </a:pPr>
            <a:r>
              <a:rPr lang="en-GB" sz="2400"/>
              <a:t>Laravel adalah salah satu framework PHP yang paling populer dan banyak digunakan untuk pengembangan aplikasi web. </a:t>
            </a:r>
            <a:endParaRPr sz="2400"/>
          </a:p>
          <a:p>
            <a:pPr indent="0" lvl="0" marL="0" rtl="0" algn="just">
              <a:spcBef>
                <a:spcPts val="1000"/>
              </a:spcBef>
              <a:spcAft>
                <a:spcPts val="0"/>
              </a:spcAft>
              <a:buNone/>
            </a:pPr>
            <a:r>
              <a:t/>
            </a:r>
            <a:endParaRPr sz="2400"/>
          </a:p>
          <a:p>
            <a:pPr indent="0" lvl="0" marL="0" rtl="0" algn="just">
              <a:spcBef>
                <a:spcPts val="1000"/>
              </a:spcBef>
              <a:spcAft>
                <a:spcPts val="0"/>
              </a:spcAft>
              <a:buClr>
                <a:schemeClr val="dk1"/>
              </a:buClr>
              <a:buSzPts val="1100"/>
              <a:buFont typeface="Arial"/>
              <a:buNone/>
            </a:pPr>
            <a:r>
              <a:rPr lang="en-GB" sz="2400"/>
              <a:t>Diciptakan oleh: </a:t>
            </a:r>
            <a:r>
              <a:rPr b="1" lang="en-GB" sz="2400"/>
              <a:t>Taylor Otwell </a:t>
            </a:r>
            <a:r>
              <a:rPr lang="en-GB" sz="2400"/>
              <a:t>pada tahun 2011.</a:t>
            </a:r>
            <a:endParaRPr sz="2400"/>
          </a:p>
          <a:p>
            <a:pPr indent="0" lvl="0" marL="0" rtl="0" algn="just">
              <a:spcBef>
                <a:spcPts val="1000"/>
              </a:spcBef>
              <a:spcAft>
                <a:spcPts val="0"/>
              </a:spcAft>
              <a:buNone/>
            </a:pPr>
            <a:r>
              <a:rPr lang="en-GB" sz="2400"/>
              <a:t>Laravel dirancang sebagai alternatif framework lain, yang tidak memiliki fitur dukungan bawaan seperti otentikasi dan otorisasi pengguna.</a:t>
            </a:r>
            <a:endParaRPr sz="2400"/>
          </a:p>
          <a:p>
            <a:pPr indent="0" lvl="0" marL="0" rtl="0" algn="just">
              <a:spcBef>
                <a:spcPts val="1000"/>
              </a:spcBef>
              <a:spcAft>
                <a:spcPts val="0"/>
              </a:spcAft>
              <a:buNone/>
            </a:pPr>
            <a:r>
              <a:t/>
            </a:r>
            <a:endParaRPr sz="2400"/>
          </a:p>
          <a:p>
            <a:pPr indent="0" lvl="0" marL="0" rtl="0" algn="just">
              <a:spcBef>
                <a:spcPts val="1000"/>
              </a:spcBef>
              <a:spcAft>
                <a:spcPts val="0"/>
              </a:spcAft>
              <a:buClr>
                <a:schemeClr val="dk1"/>
              </a:buClr>
              <a:buSzPts val="1100"/>
              <a:buFont typeface="Arial"/>
              <a:buNone/>
            </a:pPr>
            <a:r>
              <a:rPr lang="en-GB" sz="2400"/>
              <a:t>Saat modul ini dibuat, Laravel sudah mendapat versi ke-11.</a:t>
            </a:r>
            <a:endParaRPr sz="2400"/>
          </a:p>
        </p:txBody>
      </p:sp>
      <p:pic>
        <p:nvPicPr>
          <p:cNvPr id="118" name="Google Shape;118;g32b76a24d38_0_8"/>
          <p:cNvPicPr preferRelativeResize="0"/>
          <p:nvPr/>
        </p:nvPicPr>
        <p:blipFill>
          <a:blip r:embed="rId3">
            <a:alphaModFix/>
          </a:blip>
          <a:stretch>
            <a:fillRect/>
          </a:stretch>
        </p:blipFill>
        <p:spPr>
          <a:xfrm>
            <a:off x="947750" y="2021688"/>
            <a:ext cx="2991949" cy="2169462"/>
          </a:xfrm>
          <a:prstGeom prst="rect">
            <a:avLst/>
          </a:prstGeom>
          <a:noFill/>
          <a:ln>
            <a:noFill/>
          </a:ln>
        </p:spPr>
      </p:pic>
      <p:sp>
        <p:nvSpPr>
          <p:cNvPr id="119" name="Google Shape;119;g32b76a24d38_0_8"/>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a:t>
            </a:r>
            <a:endParaRPr sz="4400">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2b76a24d38_0_96"/>
          <p:cNvSpPr txBox="1"/>
          <p:nvPr>
            <p:ph type="title"/>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t>MVC</a:t>
            </a:r>
            <a:endParaRPr/>
          </a:p>
        </p:txBody>
      </p:sp>
      <p:sp>
        <p:nvSpPr>
          <p:cNvPr id="126" name="Google Shape;126;g32b76a24d38_0_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
        <p:nvSpPr>
          <p:cNvPr id="127" name="Google Shape;127;g32b76a24d38_0_96"/>
          <p:cNvSpPr txBox="1"/>
          <p:nvPr>
            <p:ph idx="1" type="body"/>
          </p:nvPr>
        </p:nvSpPr>
        <p:spPr>
          <a:xfrm>
            <a:off x="947738" y="1628775"/>
            <a:ext cx="10152000" cy="4548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MVC adalah singkatan dari </a:t>
            </a:r>
            <a:r>
              <a:rPr lang="en-GB" sz="2400">
                <a:highlight>
                  <a:srgbClr val="FFFF00"/>
                </a:highlight>
              </a:rPr>
              <a:t>Model-View-Controller</a:t>
            </a:r>
            <a:r>
              <a:rPr lang="en-GB" sz="2400"/>
              <a:t>, yang merupakan pola arsitektur perangkat lunak yang banyak digunakan, terutama pada aplikasi web.</a:t>
            </a:r>
            <a:endParaRPr sz="2400"/>
          </a:p>
          <a:p>
            <a:pPr indent="0" lvl="0" marL="0" rtl="0" algn="just">
              <a:lnSpc>
                <a:spcPct val="90000"/>
              </a:lnSpc>
              <a:spcBef>
                <a:spcPts val="1000"/>
              </a:spcBef>
              <a:spcAft>
                <a:spcPts val="0"/>
              </a:spcAft>
              <a:buNone/>
            </a:pPr>
            <a:r>
              <a:t/>
            </a:r>
            <a:endParaRPr sz="2400"/>
          </a:p>
          <a:p>
            <a:pPr indent="0" lvl="0" marL="0" rtl="0" algn="just">
              <a:lnSpc>
                <a:spcPct val="90000"/>
              </a:lnSpc>
              <a:spcBef>
                <a:spcPts val="1000"/>
              </a:spcBef>
              <a:spcAft>
                <a:spcPts val="0"/>
              </a:spcAft>
              <a:buNone/>
            </a:pPr>
            <a:r>
              <a:rPr lang="en-GB" sz="2400"/>
              <a:t>Pola MVC dirancang untuk memisahkan sistem aplikasi menjadi tiga komponen utama, yang masing-masing memiliki tanggung jawab yang berbeda.</a:t>
            </a:r>
            <a:endParaRPr sz="2400"/>
          </a:p>
          <a:p>
            <a:pPr indent="0" lvl="0" marL="0" rtl="0" algn="just">
              <a:lnSpc>
                <a:spcPct val="90000"/>
              </a:lnSpc>
              <a:spcBef>
                <a:spcPts val="1000"/>
              </a:spcBef>
              <a:spcAft>
                <a:spcPts val="0"/>
              </a:spcAft>
              <a:buNone/>
            </a:pPr>
            <a:r>
              <a:rPr lang="en-GB" sz="2400"/>
              <a:t>Penjelasan tugas:</a:t>
            </a:r>
            <a:endParaRPr sz="2400"/>
          </a:p>
          <a:p>
            <a:pPr indent="-381000" lvl="0" marL="457200" rtl="0" algn="just">
              <a:lnSpc>
                <a:spcPct val="90000"/>
              </a:lnSpc>
              <a:spcBef>
                <a:spcPts val="1000"/>
              </a:spcBef>
              <a:spcAft>
                <a:spcPts val="0"/>
              </a:spcAft>
              <a:buSzPts val="2400"/>
              <a:buChar char="•"/>
            </a:pPr>
            <a:r>
              <a:rPr b="1" lang="en-GB" sz="2400"/>
              <a:t>Model</a:t>
            </a:r>
            <a:r>
              <a:rPr lang="en-GB" sz="2400"/>
              <a:t>: bertanggung jawab untuk mengelola data dan logika bisnis aplikasi (interaksi database).</a:t>
            </a:r>
            <a:endParaRPr sz="2400"/>
          </a:p>
          <a:p>
            <a:pPr indent="-381000" lvl="0" marL="457200" rtl="0" algn="just">
              <a:lnSpc>
                <a:spcPct val="90000"/>
              </a:lnSpc>
              <a:spcBef>
                <a:spcPts val="0"/>
              </a:spcBef>
              <a:spcAft>
                <a:spcPts val="0"/>
              </a:spcAft>
              <a:buSzPts val="2400"/>
              <a:buChar char="•"/>
            </a:pPr>
            <a:r>
              <a:rPr b="1" lang="en-GB" sz="2400"/>
              <a:t>View</a:t>
            </a:r>
            <a:r>
              <a:rPr lang="en-GB" sz="2400"/>
              <a:t>: bertanggung jawab untuk menampilkan data kepada pengguna (UI).</a:t>
            </a:r>
            <a:endParaRPr sz="2400"/>
          </a:p>
          <a:p>
            <a:pPr indent="-381000" lvl="0" marL="457200" rtl="0" algn="just">
              <a:lnSpc>
                <a:spcPct val="90000"/>
              </a:lnSpc>
              <a:spcBef>
                <a:spcPts val="0"/>
              </a:spcBef>
              <a:spcAft>
                <a:spcPts val="0"/>
              </a:spcAft>
              <a:buSzPts val="2400"/>
              <a:buChar char="•"/>
            </a:pPr>
            <a:r>
              <a:rPr b="1" lang="en-GB" sz="2400"/>
              <a:t>Controller</a:t>
            </a:r>
            <a:r>
              <a:rPr lang="en-GB" sz="2400"/>
              <a:t>: bertanggung jawab untuk mengatur alur aplikasi dan penghubung antara Model dan View.</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2b76a24d38_0_183"/>
          <p:cNvSpPr txBox="1"/>
          <p:nvPr>
            <p:ph type="title"/>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t>Alur Kerja MVC</a:t>
            </a:r>
            <a:endParaRPr/>
          </a:p>
        </p:txBody>
      </p:sp>
      <p:sp>
        <p:nvSpPr>
          <p:cNvPr id="134" name="Google Shape;134;g32b76a24d38_0_1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35" name="Google Shape;135;g32b76a24d38_0_183"/>
          <p:cNvSpPr txBox="1"/>
          <p:nvPr>
            <p:ph idx="1" type="body"/>
          </p:nvPr>
        </p:nvSpPr>
        <p:spPr>
          <a:xfrm>
            <a:off x="947750" y="4570675"/>
            <a:ext cx="10152000" cy="16062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just">
              <a:spcBef>
                <a:spcPts val="1000"/>
              </a:spcBef>
              <a:spcAft>
                <a:spcPts val="0"/>
              </a:spcAft>
              <a:buSzPct val="100000"/>
              <a:buAutoNum type="arabicPeriod"/>
            </a:pPr>
            <a:r>
              <a:rPr lang="en-GB" sz="2000"/>
              <a:t>Pengguna ingin mengakses sebuah halaman melalui browser dengan mengirim request HTTP.</a:t>
            </a:r>
            <a:endParaRPr sz="2000"/>
          </a:p>
          <a:p>
            <a:pPr indent="-346075" lvl="0" marL="457200" rtl="0" algn="just">
              <a:spcBef>
                <a:spcPts val="0"/>
              </a:spcBef>
              <a:spcAft>
                <a:spcPts val="0"/>
              </a:spcAft>
              <a:buSzPct val="100000"/>
              <a:buAutoNum type="arabicPeriod"/>
            </a:pPr>
            <a:r>
              <a:rPr lang="en-GB" sz="2000"/>
              <a:t>Request tersebut dikelola oleh route kemudian dikirim ke controller.</a:t>
            </a:r>
            <a:endParaRPr sz="2000"/>
          </a:p>
          <a:p>
            <a:pPr indent="-346075" lvl="0" marL="457200" rtl="0" algn="just">
              <a:spcBef>
                <a:spcPts val="0"/>
              </a:spcBef>
              <a:spcAft>
                <a:spcPts val="0"/>
              </a:spcAft>
              <a:buSzPct val="100000"/>
              <a:buAutoNum type="arabicPeriod"/>
            </a:pPr>
            <a:r>
              <a:rPr lang="en-GB" sz="2000"/>
              <a:t>Controller akan mengelola:</a:t>
            </a:r>
            <a:endParaRPr sz="2000"/>
          </a:p>
          <a:p>
            <a:pPr indent="-346075" lvl="1" marL="914400" rtl="0" algn="just">
              <a:spcBef>
                <a:spcPts val="0"/>
              </a:spcBef>
              <a:spcAft>
                <a:spcPts val="0"/>
              </a:spcAft>
              <a:buSzPct val="100000"/>
              <a:buAutoNum type="alphaLcPeriod"/>
            </a:pPr>
            <a:r>
              <a:rPr lang="en-GB" sz="2000"/>
              <a:t>Jika request tidak membutuhkan data, maka akan langsung dikirim ke view untuk ditampilkan ke pengguna.</a:t>
            </a:r>
            <a:endParaRPr sz="2000"/>
          </a:p>
          <a:p>
            <a:pPr indent="-346075" lvl="1" marL="914400" rtl="0" algn="just">
              <a:spcBef>
                <a:spcPts val="0"/>
              </a:spcBef>
              <a:spcAft>
                <a:spcPts val="0"/>
              </a:spcAft>
              <a:buSzPct val="100000"/>
              <a:buAutoNum type="alphaLcPeriod"/>
            </a:pPr>
            <a:r>
              <a:rPr lang="en-GB" sz="2000"/>
              <a:t>Jika request membutuhkan data, data tersebut diminta dari model kemudian diambil oleh controller dan dikirim ke view untuk ditampilkan ke pengguna.</a:t>
            </a:r>
            <a:endParaRPr sz="2000"/>
          </a:p>
        </p:txBody>
      </p:sp>
      <p:pic>
        <p:nvPicPr>
          <p:cNvPr id="136" name="Google Shape;136;g32b76a24d38_0_183"/>
          <p:cNvPicPr preferRelativeResize="0"/>
          <p:nvPr/>
        </p:nvPicPr>
        <p:blipFill>
          <a:blip r:embed="rId3">
            <a:alphaModFix/>
          </a:blip>
          <a:stretch>
            <a:fillRect/>
          </a:stretch>
        </p:blipFill>
        <p:spPr>
          <a:xfrm>
            <a:off x="3572537" y="1493850"/>
            <a:ext cx="5046925" cy="2918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2b76a24d38_0_200"/>
          <p:cNvSpPr txBox="1"/>
          <p:nvPr>
            <p:ph type="title"/>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highlight>
                  <a:srgbClr val="FFFF00"/>
                </a:highlight>
              </a:rPr>
              <a:t>PENTING!</a:t>
            </a:r>
            <a:endParaRPr>
              <a:highlight>
                <a:srgbClr val="FFFF00"/>
              </a:highlight>
            </a:endParaRPr>
          </a:p>
        </p:txBody>
      </p:sp>
      <p:sp>
        <p:nvSpPr>
          <p:cNvPr id="143" name="Google Shape;143;g32b76a24d38_0_2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
        <p:nvSpPr>
          <p:cNvPr id="144" name="Google Shape;144;g32b76a24d38_0_200"/>
          <p:cNvSpPr txBox="1"/>
          <p:nvPr>
            <p:ph idx="1" type="body"/>
          </p:nvPr>
        </p:nvSpPr>
        <p:spPr>
          <a:xfrm>
            <a:off x="947738" y="1628775"/>
            <a:ext cx="10152000" cy="4548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Sebelum mencoba menginstal Laravel, ada beberapa hal yang harus dilakukan!</a:t>
            </a:r>
            <a:endParaRPr sz="2400"/>
          </a:p>
          <a:p>
            <a:pPr indent="-381000" lvl="0" marL="457200" rtl="0" algn="just">
              <a:lnSpc>
                <a:spcPct val="90000"/>
              </a:lnSpc>
              <a:spcBef>
                <a:spcPts val="1000"/>
              </a:spcBef>
              <a:spcAft>
                <a:spcPts val="0"/>
              </a:spcAft>
              <a:buSzPts val="2400"/>
              <a:buAutoNum type="arabicPeriod"/>
            </a:pPr>
            <a:r>
              <a:rPr lang="en-GB" sz="2400"/>
              <a:t>Instal Composer</a:t>
            </a:r>
            <a:endParaRPr sz="2400"/>
          </a:p>
          <a:p>
            <a:pPr indent="-381000" lvl="0" marL="457200" rtl="0" algn="just">
              <a:lnSpc>
                <a:spcPct val="90000"/>
              </a:lnSpc>
              <a:spcBef>
                <a:spcPts val="0"/>
              </a:spcBef>
              <a:spcAft>
                <a:spcPts val="0"/>
              </a:spcAft>
              <a:buSzPts val="2400"/>
              <a:buAutoNum type="arabicPeriod"/>
            </a:pPr>
            <a:r>
              <a:rPr lang="en-GB" sz="2400"/>
              <a:t>Konfigurasi file php.ini</a:t>
            </a:r>
            <a:endParaRPr sz="2400"/>
          </a:p>
          <a:p>
            <a:pPr indent="-381000" lvl="0" marL="457200" rtl="0" algn="just">
              <a:lnSpc>
                <a:spcPct val="90000"/>
              </a:lnSpc>
              <a:spcBef>
                <a:spcPts val="0"/>
              </a:spcBef>
              <a:spcAft>
                <a:spcPts val="0"/>
              </a:spcAft>
              <a:buSzPts val="2400"/>
              <a:buAutoNum type="arabicPeriod"/>
            </a:pPr>
            <a:r>
              <a:rPr lang="en-GB" sz="2400"/>
              <a:t>Aktifkan MySQL pada XAMPP</a:t>
            </a:r>
            <a:endParaRPr sz="2400"/>
          </a:p>
          <a:p>
            <a:pPr indent="-381000" lvl="0" marL="457200" rtl="0" algn="just">
              <a:lnSpc>
                <a:spcPct val="90000"/>
              </a:lnSpc>
              <a:spcBef>
                <a:spcPts val="0"/>
              </a:spcBef>
              <a:spcAft>
                <a:spcPts val="0"/>
              </a:spcAft>
              <a:buSzPts val="2400"/>
              <a:buAutoNum type="arabicPeriod"/>
            </a:pPr>
            <a:r>
              <a:rPr lang="en-GB" sz="2400"/>
              <a:t>Instal Laravel</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2b76a24d38_0_3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GB" sz="4800"/>
              <a:t>Instalasi Composer</a:t>
            </a:r>
            <a:endParaRPr/>
          </a:p>
        </p:txBody>
      </p:sp>
      <p:sp>
        <p:nvSpPr>
          <p:cNvPr id="151" name="Google Shape;151;g32b76a24d38_0_3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GB"/>
              <a:t>The PHP Framework for Web Artisans</a:t>
            </a:r>
            <a:endParaRPr/>
          </a:p>
        </p:txBody>
      </p:sp>
      <p:sp>
        <p:nvSpPr>
          <p:cNvPr id="152" name="Google Shape;152;g32b76a24d38_0_3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b="1" lang="en-GB" sz="1600">
                <a:solidFill>
                  <a:schemeClr val="lt1"/>
                </a:solidFill>
              </a:rPr>
              <a:t>‹#›</a:t>
            </a:fld>
            <a:endParaRPr b="1" sz="1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2b76a24d38_0_20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
        <p:nvSpPr>
          <p:cNvPr id="159" name="Google Shape;159;g32b76a24d38_0_207"/>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Composer - Unduh</a:t>
            </a:r>
            <a:endParaRPr sz="4400">
              <a:solidFill>
                <a:srgbClr val="000000"/>
              </a:solidFill>
              <a:latin typeface="Calibri"/>
              <a:ea typeface="Calibri"/>
              <a:cs typeface="Calibri"/>
              <a:sym typeface="Calibri"/>
            </a:endParaRPr>
          </a:p>
        </p:txBody>
      </p:sp>
      <p:sp>
        <p:nvSpPr>
          <p:cNvPr id="160" name="Google Shape;160;g32b76a24d38_0_207"/>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Kunjungi URL berikut:</a:t>
            </a:r>
            <a:endParaRPr sz="2400"/>
          </a:p>
          <a:p>
            <a:pPr indent="0" lvl="0" marL="0" rtl="0" algn="just">
              <a:lnSpc>
                <a:spcPct val="90000"/>
              </a:lnSpc>
              <a:spcBef>
                <a:spcPts val="1000"/>
              </a:spcBef>
              <a:spcAft>
                <a:spcPts val="0"/>
              </a:spcAft>
              <a:buNone/>
            </a:pPr>
            <a:r>
              <a:rPr lang="en-GB" sz="2400" u="sng">
                <a:solidFill>
                  <a:schemeClr val="hlink"/>
                </a:solidFill>
                <a:hlinkClick r:id="rId3"/>
              </a:rPr>
              <a:t>https://getcomposer.org/</a:t>
            </a:r>
            <a:endParaRPr sz="2400"/>
          </a:p>
        </p:txBody>
      </p:sp>
      <p:pic>
        <p:nvPicPr>
          <p:cNvPr id="161" name="Google Shape;161;g32b76a24d38_0_207"/>
          <p:cNvPicPr preferRelativeResize="0"/>
          <p:nvPr/>
        </p:nvPicPr>
        <p:blipFill rotWithShape="1">
          <a:blip r:embed="rId4">
            <a:alphaModFix/>
          </a:blip>
          <a:srcRect b="14714" l="14431" r="14686" t="2899"/>
          <a:stretch/>
        </p:blipFill>
        <p:spPr>
          <a:xfrm>
            <a:off x="5637325" y="1677350"/>
            <a:ext cx="4994294" cy="41607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2b76a24d38_0_2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68" name="Google Shape;168;g32b76a24d38_0_295"/>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Composer - Instalasi #1</a:t>
            </a:r>
            <a:endParaRPr sz="4400">
              <a:solidFill>
                <a:srgbClr val="000000"/>
              </a:solidFill>
              <a:latin typeface="Calibri"/>
              <a:ea typeface="Calibri"/>
              <a:cs typeface="Calibri"/>
              <a:sym typeface="Calibri"/>
            </a:endParaRPr>
          </a:p>
        </p:txBody>
      </p:sp>
      <p:sp>
        <p:nvSpPr>
          <p:cNvPr id="169" name="Google Shape;169;g32b76a24d38_0_295"/>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Buka file hasil download</a:t>
            </a:r>
            <a:endParaRPr sz="2400"/>
          </a:p>
          <a:p>
            <a:pPr indent="-381000" lvl="0" marL="457200" rtl="0" algn="just">
              <a:lnSpc>
                <a:spcPct val="90000"/>
              </a:lnSpc>
              <a:spcBef>
                <a:spcPts val="0"/>
              </a:spcBef>
              <a:spcAft>
                <a:spcPts val="0"/>
              </a:spcAft>
              <a:buSzPts val="2400"/>
              <a:buChar char="•"/>
            </a:pPr>
            <a:r>
              <a:rPr lang="en-GB" sz="2400"/>
              <a:t>Jika muncul tampilan ini, klik Next</a:t>
            </a:r>
            <a:endParaRPr sz="2400"/>
          </a:p>
        </p:txBody>
      </p:sp>
      <p:pic>
        <p:nvPicPr>
          <p:cNvPr descr="Halaman Depan Instalasi Composer" id="170" name="Google Shape;170;g32b76a24d38_0_295"/>
          <p:cNvPicPr preferRelativeResize="0"/>
          <p:nvPr/>
        </p:nvPicPr>
        <p:blipFill rotWithShape="1">
          <a:blip r:embed="rId3">
            <a:alphaModFix/>
          </a:blip>
          <a:srcRect b="0" l="0" r="0" t="0"/>
          <a:stretch/>
        </p:blipFill>
        <p:spPr>
          <a:xfrm>
            <a:off x="5637325" y="1677350"/>
            <a:ext cx="4924267" cy="41607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2b76a24d38_0_3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77" name="Google Shape;177;g32b76a24d38_0_304"/>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Composer - Instalasi #2</a:t>
            </a:r>
            <a:endParaRPr sz="4400">
              <a:solidFill>
                <a:srgbClr val="000000"/>
              </a:solidFill>
              <a:latin typeface="Calibri"/>
              <a:ea typeface="Calibri"/>
              <a:cs typeface="Calibri"/>
              <a:sym typeface="Calibri"/>
            </a:endParaRPr>
          </a:p>
        </p:txBody>
      </p:sp>
      <p:sp>
        <p:nvSpPr>
          <p:cNvPr id="178" name="Google Shape;178;g32b76a24d38_0_304"/>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Atur path-nya ke lokasi php dari XAMPP, atau biarkan default</a:t>
            </a:r>
            <a:endParaRPr sz="2400"/>
          </a:p>
          <a:p>
            <a:pPr indent="-381000" lvl="0" marL="457200" rtl="0" algn="just">
              <a:lnSpc>
                <a:spcPct val="90000"/>
              </a:lnSpc>
              <a:spcBef>
                <a:spcPts val="0"/>
              </a:spcBef>
              <a:spcAft>
                <a:spcPts val="0"/>
              </a:spcAft>
              <a:buSzPts val="2400"/>
              <a:buChar char="•"/>
            </a:pPr>
            <a:r>
              <a:rPr lang="en-GB" sz="2400"/>
              <a:t>K</a:t>
            </a:r>
            <a:r>
              <a:rPr lang="en-GB" sz="2400"/>
              <a:t>lik Next</a:t>
            </a:r>
            <a:endParaRPr sz="2400"/>
          </a:p>
        </p:txBody>
      </p:sp>
      <p:pic>
        <p:nvPicPr>
          <p:cNvPr descr="Install Composer di Windows - Pilih Lokasi File PHP" id="179" name="Google Shape;179;g32b76a24d38_0_304"/>
          <p:cNvPicPr preferRelativeResize="0"/>
          <p:nvPr/>
        </p:nvPicPr>
        <p:blipFill rotWithShape="1">
          <a:blip r:embed="rId3">
            <a:alphaModFix/>
          </a:blip>
          <a:srcRect b="0" l="0" r="0" t="0"/>
          <a:stretch/>
        </p:blipFill>
        <p:spPr>
          <a:xfrm>
            <a:off x="5637325" y="1677350"/>
            <a:ext cx="4770776" cy="41607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2b76a24d38_0_3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86" name="Google Shape;186;g32b76a24d38_0_321"/>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Composer - Instalasi #3</a:t>
            </a:r>
            <a:endParaRPr sz="4400">
              <a:solidFill>
                <a:srgbClr val="000000"/>
              </a:solidFill>
              <a:latin typeface="Calibri"/>
              <a:ea typeface="Calibri"/>
              <a:cs typeface="Calibri"/>
              <a:sym typeface="Calibri"/>
            </a:endParaRPr>
          </a:p>
        </p:txBody>
      </p:sp>
      <p:sp>
        <p:nvSpPr>
          <p:cNvPr id="187" name="Google Shape;187;g32b76a24d38_0_321"/>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Klik Next</a:t>
            </a:r>
            <a:endParaRPr sz="2400"/>
          </a:p>
        </p:txBody>
      </p:sp>
      <p:pic>
        <p:nvPicPr>
          <p:cNvPr descr="Install Composer di Windows - Setting Proxy" id="188" name="Google Shape;188;g32b76a24d38_0_321"/>
          <p:cNvPicPr preferRelativeResize="0"/>
          <p:nvPr/>
        </p:nvPicPr>
        <p:blipFill rotWithShape="1">
          <a:blip r:embed="rId3">
            <a:alphaModFix/>
          </a:blip>
          <a:srcRect b="0" l="0" r="0" t="0"/>
          <a:stretch/>
        </p:blipFill>
        <p:spPr>
          <a:xfrm>
            <a:off x="5637324" y="1677350"/>
            <a:ext cx="4770773" cy="41607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2b76a24d38_0_3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95" name="Google Shape;195;g32b76a24d38_0_313"/>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Composer - Instalasi #4</a:t>
            </a:r>
            <a:endParaRPr sz="4400">
              <a:solidFill>
                <a:srgbClr val="000000"/>
              </a:solidFill>
              <a:latin typeface="Calibri"/>
              <a:ea typeface="Calibri"/>
              <a:cs typeface="Calibri"/>
              <a:sym typeface="Calibri"/>
            </a:endParaRPr>
          </a:p>
        </p:txBody>
      </p:sp>
      <p:sp>
        <p:nvSpPr>
          <p:cNvPr id="196" name="Google Shape;196;g32b76a24d38_0_313"/>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Tunggu proses instalasi selesai</a:t>
            </a:r>
            <a:endParaRPr sz="2400"/>
          </a:p>
        </p:txBody>
      </p:sp>
      <p:pic>
        <p:nvPicPr>
          <p:cNvPr descr="Proses Install Composer di Windows" id="197" name="Google Shape;197;g32b76a24d38_0_313"/>
          <p:cNvPicPr preferRelativeResize="0"/>
          <p:nvPr/>
        </p:nvPicPr>
        <p:blipFill rotWithShape="1">
          <a:blip r:embed="rId3">
            <a:alphaModFix/>
          </a:blip>
          <a:srcRect b="0" l="0" r="0" t="0"/>
          <a:stretch/>
        </p:blipFill>
        <p:spPr>
          <a:xfrm>
            <a:off x="5637325" y="1677350"/>
            <a:ext cx="4770776" cy="41607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2b76a24d38_0_34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GB" sz="4800"/>
              <a:t>Konfigurasi php.ini</a:t>
            </a:r>
            <a:endParaRPr/>
          </a:p>
        </p:txBody>
      </p:sp>
      <p:sp>
        <p:nvSpPr>
          <p:cNvPr id="204" name="Google Shape;204;g32b76a24d38_0_34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GB"/>
              <a:t>The PHP Framework for Web Artisans</a:t>
            </a:r>
            <a:endParaRPr/>
          </a:p>
        </p:txBody>
      </p:sp>
      <p:sp>
        <p:nvSpPr>
          <p:cNvPr id="205" name="Google Shape;205;g32b76a24d38_0_3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b="1" lang="en-GB" sz="1600">
                <a:solidFill>
                  <a:schemeClr val="lt1"/>
                </a:solidFill>
              </a:rPr>
              <a:t>‹#›</a:t>
            </a:fld>
            <a:endParaRPr b="1" sz="1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2b76a24d38_0_3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2" name="Google Shape;212;g32b76a24d38_0_348"/>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Konfigurasi php.ini</a:t>
            </a:r>
            <a:endParaRPr sz="4400">
              <a:solidFill>
                <a:srgbClr val="000000"/>
              </a:solidFill>
              <a:latin typeface="Calibri"/>
              <a:ea typeface="Calibri"/>
              <a:cs typeface="Calibri"/>
              <a:sym typeface="Calibri"/>
            </a:endParaRPr>
          </a:p>
        </p:txBody>
      </p:sp>
      <p:sp>
        <p:nvSpPr>
          <p:cNvPr id="213" name="Google Shape;213;g32b76a24d38_0_348"/>
          <p:cNvSpPr txBox="1"/>
          <p:nvPr>
            <p:ph idx="1" type="body"/>
          </p:nvPr>
        </p:nvSpPr>
        <p:spPr>
          <a:xfrm>
            <a:off x="947738" y="1628775"/>
            <a:ext cx="10152000" cy="4548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php.ini adalah file konfigurasi utama untuk PHP yang digunakan dalam XAMPP. File ini mengatur berbagai pengaturan PHP, seperti batas memori, waktu eksekusi, dan ekstensi yang diaktifkan, yang mempengaruhi cara PHP berfungsi dalam aplikasi web.</a:t>
            </a:r>
            <a:endParaRPr sz="2400"/>
          </a:p>
          <a:p>
            <a:pPr indent="0" lvl="0" marL="0" rtl="0" algn="just">
              <a:lnSpc>
                <a:spcPct val="90000"/>
              </a:lnSpc>
              <a:spcBef>
                <a:spcPts val="1000"/>
              </a:spcBef>
              <a:spcAft>
                <a:spcPts val="0"/>
              </a:spcAft>
              <a:buNone/>
            </a:pPr>
            <a:r>
              <a:t/>
            </a:r>
            <a:endParaRPr sz="2400"/>
          </a:p>
          <a:p>
            <a:pPr indent="0" lvl="0" marL="0" rtl="0" algn="just">
              <a:lnSpc>
                <a:spcPct val="90000"/>
              </a:lnSpc>
              <a:spcBef>
                <a:spcPts val="1000"/>
              </a:spcBef>
              <a:spcAft>
                <a:spcPts val="0"/>
              </a:spcAft>
              <a:buNone/>
            </a:pPr>
            <a:r>
              <a:rPr lang="en-GB" sz="2400"/>
              <a:t>Yang harus dikonfigurasi ulang adalah pada baris kode </a:t>
            </a:r>
            <a:r>
              <a:rPr lang="en-GB" sz="2400">
                <a:highlight>
                  <a:srgbClr val="FFFF00"/>
                </a:highlight>
              </a:rPr>
              <a:t>;extension=zip</a:t>
            </a:r>
            <a:r>
              <a:rPr lang="en-GB" sz="2400"/>
              <a:t>. Pastikan tanda ; (titik koma) sudah </a:t>
            </a:r>
            <a:r>
              <a:rPr lang="en-GB" sz="2400">
                <a:highlight>
                  <a:srgbClr val="FFFF00"/>
                </a:highlight>
              </a:rPr>
              <a:t>dihapus!</a:t>
            </a:r>
            <a:endParaRPr sz="2400">
              <a:highlight>
                <a:srgbClr val="FFFF00"/>
              </a:highlight>
            </a:endParaRPr>
          </a:p>
          <a:p>
            <a:pPr indent="0" lvl="0" marL="0" rtl="0" algn="just">
              <a:lnSpc>
                <a:spcPct val="90000"/>
              </a:lnSpc>
              <a:spcBef>
                <a:spcPts val="1000"/>
              </a:spcBef>
              <a:spcAft>
                <a:spcPts val="0"/>
              </a:spcAft>
              <a:buNone/>
            </a:pPr>
            <a:r>
              <a:t/>
            </a:r>
            <a:endParaRPr sz="2400">
              <a:highlight>
                <a:srgbClr val="FFFF00"/>
              </a:highlight>
            </a:endParaRPr>
          </a:p>
          <a:p>
            <a:pPr indent="0" lvl="0" marL="0" rtl="0" algn="just">
              <a:lnSpc>
                <a:spcPct val="90000"/>
              </a:lnSpc>
              <a:spcBef>
                <a:spcPts val="1000"/>
              </a:spcBef>
              <a:spcAft>
                <a:spcPts val="0"/>
              </a:spcAft>
              <a:buNone/>
            </a:pPr>
            <a:r>
              <a:rPr lang="en-GB" sz="2400"/>
              <a:t>Secara default lokasi file php.ini berada di direktori C:\xampp\php\php.ini. Pastikan tahap ini sudah dilakukan ya!</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2b76a24d38_0_19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GB" sz="4800"/>
              <a:t>Instalasi </a:t>
            </a:r>
            <a:r>
              <a:rPr b="1" lang="en-GB" sz="4800"/>
              <a:t>Laravel</a:t>
            </a:r>
            <a:endParaRPr/>
          </a:p>
        </p:txBody>
      </p:sp>
      <p:sp>
        <p:nvSpPr>
          <p:cNvPr id="220" name="Google Shape;220;g32b76a24d38_0_19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GB"/>
              <a:t>The PHP Framework for Web Artisans</a:t>
            </a:r>
            <a:endParaRPr/>
          </a:p>
        </p:txBody>
      </p:sp>
      <p:sp>
        <p:nvSpPr>
          <p:cNvPr id="221" name="Google Shape;221;g32b76a24d38_0_1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b="1" lang="en-GB" sz="1600">
                <a:solidFill>
                  <a:schemeClr val="lt1"/>
                </a:solidFill>
              </a:rPr>
              <a:t>‹#›</a:t>
            </a:fld>
            <a:endParaRPr b="1" sz="1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2b76a24d38_0_3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28" name="Google Shape;228;g32b76a24d38_0_361"/>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 </a:t>
            </a:r>
            <a:r>
              <a:rPr b="1" lang="en-GB" sz="2800">
                <a:latin typeface="Calibri"/>
                <a:ea typeface="Calibri"/>
                <a:cs typeface="Calibri"/>
                <a:sym typeface="Calibri"/>
              </a:rPr>
              <a:t>- Instalasi #1</a:t>
            </a:r>
            <a:endParaRPr sz="4400">
              <a:solidFill>
                <a:srgbClr val="000000"/>
              </a:solidFill>
              <a:latin typeface="Calibri"/>
              <a:ea typeface="Calibri"/>
              <a:cs typeface="Calibri"/>
              <a:sym typeface="Calibri"/>
            </a:endParaRPr>
          </a:p>
        </p:txBody>
      </p:sp>
      <p:sp>
        <p:nvSpPr>
          <p:cNvPr id="229" name="Google Shape;229;g32b76a24d38_0_361"/>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Buka terminal</a:t>
            </a:r>
            <a:endParaRPr sz="2400"/>
          </a:p>
          <a:p>
            <a:pPr indent="-381000" lvl="0" marL="457200" rtl="0" algn="just">
              <a:lnSpc>
                <a:spcPct val="90000"/>
              </a:lnSpc>
              <a:spcBef>
                <a:spcPts val="0"/>
              </a:spcBef>
              <a:spcAft>
                <a:spcPts val="0"/>
              </a:spcAft>
              <a:buSzPts val="2400"/>
              <a:buChar char="•"/>
            </a:pPr>
            <a:r>
              <a:rPr lang="en-GB" sz="2400"/>
              <a:t>Masuk ke direktori </a:t>
            </a:r>
            <a:r>
              <a:rPr lang="en-GB" sz="2400">
                <a:highlight>
                  <a:srgbClr val="FFF2CC"/>
                </a:highlight>
              </a:rPr>
              <a:t>C:\xampp\htdocs</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Ketik perintah </a:t>
            </a:r>
            <a:r>
              <a:rPr lang="en-GB" sz="2400">
                <a:highlight>
                  <a:srgbClr val="FFF2CC"/>
                </a:highlight>
              </a:rPr>
              <a:t>composer global require laravel/installer</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Klik enter</a:t>
            </a:r>
            <a:endParaRPr sz="2400"/>
          </a:p>
          <a:p>
            <a:pPr indent="-381000" lvl="0" marL="457200" rtl="0" algn="just">
              <a:spcBef>
                <a:spcPts val="0"/>
              </a:spcBef>
              <a:spcAft>
                <a:spcPts val="0"/>
              </a:spcAft>
              <a:buSzPts val="2400"/>
              <a:buChar char="•"/>
            </a:pPr>
            <a:r>
              <a:rPr lang="en-GB" sz="2400"/>
              <a:t>Tunggu proses hingga selesai</a:t>
            </a:r>
            <a:endParaRPr sz="2400"/>
          </a:p>
          <a:p>
            <a:pPr indent="0" lvl="0" marL="0" rtl="0" algn="just">
              <a:lnSpc>
                <a:spcPct val="90000"/>
              </a:lnSpc>
              <a:spcBef>
                <a:spcPts val="1000"/>
              </a:spcBef>
              <a:spcAft>
                <a:spcPts val="0"/>
              </a:spcAft>
              <a:buNone/>
            </a:pPr>
            <a:r>
              <a:t/>
            </a:r>
            <a:endParaRPr sz="2400">
              <a:highlight>
                <a:srgbClr val="FFF2CC"/>
              </a:highlight>
            </a:endParaRPr>
          </a:p>
          <a:p>
            <a:pPr indent="0" lvl="0" marL="0" rtl="0" algn="just">
              <a:lnSpc>
                <a:spcPct val="90000"/>
              </a:lnSpc>
              <a:spcBef>
                <a:spcPts val="1000"/>
              </a:spcBef>
              <a:spcAft>
                <a:spcPts val="0"/>
              </a:spcAft>
              <a:buNone/>
            </a:pPr>
            <a:r>
              <a:rPr lang="en-GB" sz="2400"/>
              <a:t>Proses ini membutuhkan paket internet!</a:t>
            </a:r>
            <a:endParaRPr sz="2400"/>
          </a:p>
        </p:txBody>
      </p:sp>
      <p:pic>
        <p:nvPicPr>
          <p:cNvPr id="230" name="Google Shape;230;g32b76a24d38_0_361"/>
          <p:cNvPicPr preferRelativeResize="0"/>
          <p:nvPr/>
        </p:nvPicPr>
        <p:blipFill>
          <a:blip r:embed="rId3">
            <a:alphaModFix/>
          </a:blip>
          <a:stretch>
            <a:fillRect/>
          </a:stretch>
        </p:blipFill>
        <p:spPr>
          <a:xfrm>
            <a:off x="6209125" y="1677350"/>
            <a:ext cx="5144676" cy="21229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2b76a24d38_0_3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37" name="Google Shape;237;g32b76a24d38_0_370"/>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 - Instalasi #2</a:t>
            </a:r>
            <a:endParaRPr sz="4400">
              <a:solidFill>
                <a:srgbClr val="000000"/>
              </a:solidFill>
              <a:latin typeface="Calibri"/>
              <a:ea typeface="Calibri"/>
              <a:cs typeface="Calibri"/>
              <a:sym typeface="Calibri"/>
            </a:endParaRPr>
          </a:p>
        </p:txBody>
      </p:sp>
      <p:pic>
        <p:nvPicPr>
          <p:cNvPr id="238" name="Google Shape;238;g32b76a24d38_0_370"/>
          <p:cNvPicPr preferRelativeResize="0"/>
          <p:nvPr/>
        </p:nvPicPr>
        <p:blipFill>
          <a:blip r:embed="rId3">
            <a:alphaModFix/>
          </a:blip>
          <a:stretch>
            <a:fillRect/>
          </a:stretch>
        </p:blipFill>
        <p:spPr>
          <a:xfrm>
            <a:off x="6209125" y="1677350"/>
            <a:ext cx="5144676" cy="2122918"/>
          </a:xfrm>
          <a:prstGeom prst="rect">
            <a:avLst/>
          </a:prstGeom>
          <a:noFill/>
          <a:ln>
            <a:noFill/>
          </a:ln>
        </p:spPr>
      </p:pic>
      <p:sp>
        <p:nvSpPr>
          <p:cNvPr id="239" name="Google Shape;239;g32b76a24d38_0_370"/>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Ketik </a:t>
            </a:r>
            <a:r>
              <a:rPr lang="en-GB" sz="2400">
                <a:highlight>
                  <a:srgbClr val="FFF2CC"/>
                </a:highlight>
              </a:rPr>
              <a:t>laravel new booksales-api</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Klik enter</a:t>
            </a:r>
            <a:endParaRPr sz="2400"/>
          </a:p>
          <a:p>
            <a:pPr indent="0" lvl="0" marL="0" rtl="0" algn="just">
              <a:lnSpc>
                <a:spcPct val="90000"/>
              </a:lnSpc>
              <a:spcBef>
                <a:spcPts val="1000"/>
              </a:spcBef>
              <a:spcAft>
                <a:spcPts val="0"/>
              </a:spcAft>
              <a:buNone/>
            </a:pPr>
            <a:r>
              <a:t/>
            </a:r>
            <a:endParaRPr sz="2400">
              <a:highlight>
                <a:srgbClr val="FFF2CC"/>
              </a:highlight>
            </a:endParaRPr>
          </a:p>
          <a:p>
            <a:pPr indent="0" lvl="0" marL="0" rtl="0" algn="just">
              <a:lnSpc>
                <a:spcPct val="90000"/>
              </a:lnSpc>
              <a:spcBef>
                <a:spcPts val="1000"/>
              </a:spcBef>
              <a:spcAft>
                <a:spcPts val="0"/>
              </a:spcAft>
              <a:buNone/>
            </a:pPr>
            <a:r>
              <a:rPr lang="en-GB" sz="2400"/>
              <a:t>booksales-api adalah nama folder yang akan diisi oleh framework Laravel.</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2b76a24d38_0_3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6" name="Google Shape;246;g32b76a24d38_0_380"/>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 - Instalasi #3</a:t>
            </a:r>
            <a:endParaRPr sz="4400">
              <a:solidFill>
                <a:srgbClr val="000000"/>
              </a:solidFill>
              <a:latin typeface="Calibri"/>
              <a:ea typeface="Calibri"/>
              <a:cs typeface="Calibri"/>
              <a:sym typeface="Calibri"/>
            </a:endParaRPr>
          </a:p>
        </p:txBody>
      </p:sp>
      <p:pic>
        <p:nvPicPr>
          <p:cNvPr id="247" name="Google Shape;247;g32b76a24d38_0_380"/>
          <p:cNvPicPr preferRelativeResize="0"/>
          <p:nvPr/>
        </p:nvPicPr>
        <p:blipFill>
          <a:blip r:embed="rId3">
            <a:alphaModFix/>
          </a:blip>
          <a:stretch>
            <a:fillRect/>
          </a:stretch>
        </p:blipFill>
        <p:spPr>
          <a:xfrm>
            <a:off x="6209125" y="1677343"/>
            <a:ext cx="5144676" cy="3912014"/>
          </a:xfrm>
          <a:prstGeom prst="rect">
            <a:avLst/>
          </a:prstGeom>
          <a:noFill/>
          <a:ln>
            <a:noFill/>
          </a:ln>
        </p:spPr>
      </p:pic>
      <p:sp>
        <p:nvSpPr>
          <p:cNvPr id="248" name="Google Shape;248;g32b76a24d38_0_380"/>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Ketika muncul beberapa pertanyaan, pilih opsi berikut:</a:t>
            </a:r>
            <a:endParaRPr sz="2400"/>
          </a:p>
          <a:p>
            <a:pPr indent="-381000" lvl="0" marL="457200" rtl="0" algn="just">
              <a:lnSpc>
                <a:spcPct val="90000"/>
              </a:lnSpc>
              <a:spcBef>
                <a:spcPts val="1000"/>
              </a:spcBef>
              <a:spcAft>
                <a:spcPts val="0"/>
              </a:spcAft>
              <a:buSzPts val="2400"/>
              <a:buChar char="•"/>
            </a:pPr>
            <a:r>
              <a:rPr lang="en-GB" sz="2400"/>
              <a:t>Starter kit:</a:t>
            </a:r>
            <a:r>
              <a:rPr lang="en-GB" sz="2400"/>
              <a:t> </a:t>
            </a:r>
            <a:r>
              <a:rPr lang="en-GB" sz="2400">
                <a:highlight>
                  <a:srgbClr val="FFF2CC"/>
                </a:highlight>
              </a:rPr>
              <a:t>none</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Testing: </a:t>
            </a:r>
            <a:r>
              <a:rPr lang="en-GB" sz="2400">
                <a:highlight>
                  <a:srgbClr val="FFF2CC"/>
                </a:highlight>
              </a:rPr>
              <a:t>0</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Klik enter</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2b76a24d38_0_3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5" name="Google Shape;255;g32b76a24d38_0_390"/>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 - Instalasi #4</a:t>
            </a:r>
            <a:endParaRPr sz="4400">
              <a:solidFill>
                <a:srgbClr val="000000"/>
              </a:solidFill>
              <a:latin typeface="Calibri"/>
              <a:ea typeface="Calibri"/>
              <a:cs typeface="Calibri"/>
              <a:sym typeface="Calibri"/>
            </a:endParaRPr>
          </a:p>
        </p:txBody>
      </p:sp>
      <p:sp>
        <p:nvSpPr>
          <p:cNvPr id="256" name="Google Shape;256;g32b76a24d38_0_390"/>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P</a:t>
            </a:r>
            <a:r>
              <a:rPr lang="en-GB" sz="2400"/>
              <a:t>ilih opsi berikut:</a:t>
            </a:r>
            <a:endParaRPr sz="2400"/>
          </a:p>
          <a:p>
            <a:pPr indent="-381000" lvl="0" marL="457200" rtl="0" algn="just">
              <a:lnSpc>
                <a:spcPct val="90000"/>
              </a:lnSpc>
              <a:spcBef>
                <a:spcPts val="1000"/>
              </a:spcBef>
              <a:spcAft>
                <a:spcPts val="0"/>
              </a:spcAft>
              <a:buSzPts val="2400"/>
              <a:buChar char="•"/>
            </a:pPr>
            <a:r>
              <a:rPr lang="en-GB" sz="2400"/>
              <a:t>Database: </a:t>
            </a:r>
            <a:r>
              <a:rPr lang="en-GB" sz="2400">
                <a:highlight>
                  <a:srgbClr val="FFF2CC"/>
                </a:highlight>
              </a:rPr>
              <a:t>mysql</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Run database</a:t>
            </a:r>
            <a:r>
              <a:rPr lang="en-GB" sz="2400"/>
              <a:t>: </a:t>
            </a:r>
            <a:r>
              <a:rPr lang="en-GB" sz="2400">
                <a:highlight>
                  <a:srgbClr val="FFF2CC"/>
                </a:highlight>
              </a:rPr>
              <a:t>yes</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Klik enter</a:t>
            </a:r>
            <a:endParaRPr sz="2400"/>
          </a:p>
        </p:txBody>
      </p:sp>
      <p:pic>
        <p:nvPicPr>
          <p:cNvPr id="257" name="Google Shape;257;g32b76a24d38_0_390"/>
          <p:cNvPicPr preferRelativeResize="0"/>
          <p:nvPr/>
        </p:nvPicPr>
        <p:blipFill>
          <a:blip r:embed="rId3">
            <a:alphaModFix/>
          </a:blip>
          <a:stretch>
            <a:fillRect/>
          </a:stretch>
        </p:blipFill>
        <p:spPr>
          <a:xfrm>
            <a:off x="6209124" y="1677350"/>
            <a:ext cx="5144676" cy="309879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2b76a24d38_0_3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64" name="Google Shape;264;g32b76a24d38_0_399"/>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Laravel - Instalasi #5</a:t>
            </a:r>
            <a:endParaRPr sz="4400">
              <a:solidFill>
                <a:srgbClr val="000000"/>
              </a:solidFill>
              <a:latin typeface="Calibri"/>
              <a:ea typeface="Calibri"/>
              <a:cs typeface="Calibri"/>
              <a:sym typeface="Calibri"/>
            </a:endParaRPr>
          </a:p>
        </p:txBody>
      </p:sp>
      <p:sp>
        <p:nvSpPr>
          <p:cNvPr id="265" name="Google Shape;265;g32b76a24d38_0_399"/>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None/>
            </a:pPr>
            <a:r>
              <a:rPr lang="en-GB" sz="2400"/>
              <a:t>Selesai!</a:t>
            </a:r>
            <a:endParaRPr sz="2400"/>
          </a:p>
        </p:txBody>
      </p:sp>
      <p:pic>
        <p:nvPicPr>
          <p:cNvPr id="266" name="Google Shape;266;g32b76a24d38_0_399"/>
          <p:cNvPicPr preferRelativeResize="0"/>
          <p:nvPr/>
        </p:nvPicPr>
        <p:blipFill>
          <a:blip r:embed="rId3">
            <a:alphaModFix/>
          </a:blip>
          <a:stretch>
            <a:fillRect/>
          </a:stretch>
        </p:blipFill>
        <p:spPr>
          <a:xfrm>
            <a:off x="6209125" y="1677350"/>
            <a:ext cx="5144676" cy="30988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2b76a24d38_0_4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73" name="Google Shape;273;g32b76a24d38_0_408"/>
          <p:cNvSpPr txBox="1"/>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GB" sz="2800">
                <a:latin typeface="Calibri"/>
                <a:ea typeface="Calibri"/>
                <a:cs typeface="Calibri"/>
                <a:sym typeface="Calibri"/>
              </a:rPr>
              <a:t>Menjalankan Laravel</a:t>
            </a:r>
            <a:endParaRPr sz="4400">
              <a:solidFill>
                <a:srgbClr val="000000"/>
              </a:solidFill>
              <a:latin typeface="Calibri"/>
              <a:ea typeface="Calibri"/>
              <a:cs typeface="Calibri"/>
              <a:sym typeface="Calibri"/>
            </a:endParaRPr>
          </a:p>
        </p:txBody>
      </p:sp>
      <p:sp>
        <p:nvSpPr>
          <p:cNvPr id="274" name="Google Shape;274;g32b76a24d38_0_408"/>
          <p:cNvSpPr txBox="1"/>
          <p:nvPr>
            <p:ph idx="1" type="body"/>
          </p:nvPr>
        </p:nvSpPr>
        <p:spPr>
          <a:xfrm>
            <a:off x="947750" y="2016275"/>
            <a:ext cx="4530600" cy="4160700"/>
          </a:xfrm>
          <a:prstGeom prst="rect">
            <a:avLst/>
          </a:prstGeom>
          <a:noFill/>
          <a:ln>
            <a:noFill/>
          </a:ln>
        </p:spPr>
        <p:txBody>
          <a:bodyPr anchorCtr="0" anchor="t" bIns="45700" lIns="91425" spcFirstLastPara="1" rIns="91425" wrap="square" tIns="45700">
            <a:normAutofit/>
          </a:bodyPr>
          <a:lstStyle/>
          <a:p>
            <a:pPr indent="-381000" lvl="0" marL="457200" rtl="0" algn="just">
              <a:lnSpc>
                <a:spcPct val="90000"/>
              </a:lnSpc>
              <a:spcBef>
                <a:spcPts val="1000"/>
              </a:spcBef>
              <a:spcAft>
                <a:spcPts val="0"/>
              </a:spcAft>
              <a:buSzPts val="2400"/>
              <a:buChar char="•"/>
            </a:pPr>
            <a:r>
              <a:rPr lang="en-GB" sz="2400"/>
              <a:t>Buka folder booksales-api di vscode</a:t>
            </a:r>
            <a:endParaRPr sz="2400"/>
          </a:p>
          <a:p>
            <a:pPr indent="-381000" lvl="0" marL="457200" rtl="0" algn="just">
              <a:lnSpc>
                <a:spcPct val="90000"/>
              </a:lnSpc>
              <a:spcBef>
                <a:spcPts val="0"/>
              </a:spcBef>
              <a:spcAft>
                <a:spcPts val="0"/>
              </a:spcAft>
              <a:buSzPts val="2400"/>
              <a:buChar char="•"/>
            </a:pPr>
            <a:r>
              <a:rPr lang="en-GB" sz="2400"/>
              <a:t>Buka terminal pada vscode dan jalankan perintah </a:t>
            </a:r>
            <a:r>
              <a:rPr lang="en-GB" sz="2400">
                <a:highlight>
                  <a:srgbClr val="FFF2CC"/>
                </a:highlight>
              </a:rPr>
              <a:t>php artisan serve</a:t>
            </a:r>
            <a:endParaRPr sz="2400">
              <a:highlight>
                <a:srgbClr val="FFF2CC"/>
              </a:highlight>
            </a:endParaRPr>
          </a:p>
          <a:p>
            <a:pPr indent="-381000" lvl="0" marL="457200" rtl="0" algn="just">
              <a:lnSpc>
                <a:spcPct val="90000"/>
              </a:lnSpc>
              <a:spcBef>
                <a:spcPts val="0"/>
              </a:spcBef>
              <a:spcAft>
                <a:spcPts val="0"/>
              </a:spcAft>
              <a:buSzPts val="2400"/>
              <a:buChar char="•"/>
            </a:pPr>
            <a:r>
              <a:rPr lang="en-GB" sz="2400"/>
              <a:t>Buka link yang muncul ke halaman browser</a:t>
            </a:r>
            <a:endParaRPr sz="2400"/>
          </a:p>
        </p:txBody>
      </p:sp>
      <p:pic>
        <p:nvPicPr>
          <p:cNvPr id="275" name="Google Shape;275;g32b76a24d38_0_408"/>
          <p:cNvPicPr preferRelativeResize="0"/>
          <p:nvPr/>
        </p:nvPicPr>
        <p:blipFill rotWithShape="1">
          <a:blip r:embed="rId3">
            <a:alphaModFix/>
          </a:blip>
          <a:srcRect b="16367" l="0" r="46346" t="5689"/>
          <a:stretch/>
        </p:blipFill>
        <p:spPr>
          <a:xfrm>
            <a:off x="6209125" y="1677350"/>
            <a:ext cx="5144674" cy="401717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2a374c1dda_0_403"/>
          <p:cNvSpPr txBox="1"/>
          <p:nvPr>
            <p:ph type="title"/>
          </p:nvPr>
        </p:nvSpPr>
        <p:spPr>
          <a:xfrm>
            <a:off x="838200" y="681038"/>
            <a:ext cx="10515600" cy="9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GB" sz="2800"/>
              <a:t>Referensi</a:t>
            </a:r>
            <a:endParaRPr/>
          </a:p>
        </p:txBody>
      </p:sp>
      <p:sp>
        <p:nvSpPr>
          <p:cNvPr id="282" name="Google Shape;282;g32a374c1dda_0_403"/>
          <p:cNvSpPr txBox="1"/>
          <p:nvPr>
            <p:ph idx="1" type="body"/>
          </p:nvPr>
        </p:nvSpPr>
        <p:spPr>
          <a:xfrm>
            <a:off x="947738" y="1628775"/>
            <a:ext cx="10152000" cy="45483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1000"/>
              </a:spcBef>
              <a:spcAft>
                <a:spcPts val="0"/>
              </a:spcAft>
              <a:buSzPts val="2400"/>
              <a:buFont typeface="Calibri"/>
              <a:buChar char="•"/>
            </a:pPr>
            <a:r>
              <a:rPr lang="en-GB" sz="2400"/>
              <a:t>https://laravel.com/</a:t>
            </a:r>
            <a:endParaRPr sz="2400"/>
          </a:p>
          <a:p>
            <a:pPr indent="-228600" lvl="0" marL="228600" rtl="0" algn="just">
              <a:lnSpc>
                <a:spcPct val="90000"/>
              </a:lnSpc>
              <a:spcBef>
                <a:spcPts val="1000"/>
              </a:spcBef>
              <a:spcAft>
                <a:spcPts val="0"/>
              </a:spcAft>
              <a:buSzPts val="2400"/>
              <a:buFont typeface="Calibri"/>
              <a:buChar char="•"/>
            </a:pPr>
            <a:r>
              <a:rPr lang="en-GB" sz="2400"/>
              <a:t>https://www.w3schools.com/</a:t>
            </a:r>
            <a:endParaRPr sz="2400"/>
          </a:p>
          <a:p>
            <a:pPr indent="-228600" lvl="0" marL="228600" rtl="0" algn="just">
              <a:lnSpc>
                <a:spcPct val="90000"/>
              </a:lnSpc>
              <a:spcBef>
                <a:spcPts val="1000"/>
              </a:spcBef>
              <a:spcAft>
                <a:spcPts val="0"/>
              </a:spcAft>
              <a:buSzPts val="2400"/>
              <a:buChar char="•"/>
            </a:pPr>
            <a:r>
              <a:rPr lang="en-GB" sz="2400"/>
              <a:t>https://www.petanikode.com/</a:t>
            </a:r>
            <a:endParaRPr sz="2400"/>
          </a:p>
          <a:p>
            <a:pPr indent="-228600" lvl="0" marL="228600" rtl="0" algn="just">
              <a:lnSpc>
                <a:spcPct val="90000"/>
              </a:lnSpc>
              <a:spcBef>
                <a:spcPts val="1000"/>
              </a:spcBef>
              <a:spcAft>
                <a:spcPts val="0"/>
              </a:spcAft>
              <a:buSzPts val="2400"/>
              <a:buChar char="•"/>
            </a:pPr>
            <a:r>
              <a:rPr lang="en-GB" sz="2400"/>
              <a:t>https://www.santrikoding.com/</a:t>
            </a:r>
            <a:endParaRPr sz="2400"/>
          </a:p>
        </p:txBody>
      </p:sp>
      <p:sp>
        <p:nvSpPr>
          <p:cNvPr id="283" name="Google Shape;283;g32a374c1dda_0_40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2024-08-27T01:55:47Z</dcterms:created>
  <dc:creator>Alwi Putra Supendi</dc:creator>
</cp:coreProperties>
</file>
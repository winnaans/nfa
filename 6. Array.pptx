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845">
          <p15:clr>
            <a:srgbClr val="A4A3A4"/>
          </p15:clr>
        </p15:guide>
        <p15:guide id="2" orient="horz" pos="1026">
          <p15:clr>
            <a:srgbClr val="A4A3A4"/>
          </p15:clr>
        </p15:guide>
        <p15:guide id="3" pos="3840">
          <p15:clr>
            <a:srgbClr val="A4A3A4"/>
          </p15:clr>
        </p15:guide>
        <p15:guide id="4" pos="7015">
          <p15:clr>
            <a:srgbClr val="A4A3A4"/>
          </p15:clr>
        </p15:guide>
        <p15:guide id="5" pos="597">
          <p15:clr>
            <a:srgbClr val="A4A3A4"/>
          </p15:clr>
        </p15:guide>
      </p15:sldGuideLst>
    </p:ext>
    <p:ext uri="GoogleSlidesCustomDataVersion2">
      <go:slidesCustomData xmlns:go="http://customooxmlschemas.google.com/" r:id="rId22" roundtripDataSignature="AMtx7mgT/NbarI+X02V1sh7D4ymXbv347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845" orient="horz"/>
        <p:guide pos="1026" orient="horz"/>
        <p:guide pos="3840"/>
        <p:guide pos="7015"/>
        <p:guide pos="597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0" name="Google Shape;90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28fbe7acd7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g328fbe7acd7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" name="Google Shape;106;g328fbe7acd7_0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28fbe7acd7_0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g328fbe7acd7_0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4" name="Google Shape;114;g328fbe7acd7_0_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2a374c1dda_0_3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g32a374c1dda_0_37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3" name="Google Shape;123;g32a374c1dda_0_37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2a374c1dda_0_4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g32a374c1dda_0_48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2" name="Google Shape;132;g32a374c1dda_0_48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2a374c1dda_0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g32a374c1dda_0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1" name="Google Shape;141;g32a374c1dda_0_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2a374c1dda_0_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g32a374c1dda_0_9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8" name="Google Shape;148;g32a374c1dda_0_9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2a374c1dda_0_3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g32a374c1dda_0_35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6" name="Google Shape;156;g32a374c1dda_0_35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2a374c1dda_0_3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g32a374c1dda_0_38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4" name="Google Shape;164;g32a374c1dda_0_38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2a374c1dda_0_3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g32a374c1dda_0_38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1" name="Google Shape;171;g32a374c1dda_0_38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2a374c1dda_0_39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g32a374c1dda_0_39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9" name="Google Shape;179;g32a374c1dda_0_39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2a374c1dda_0_49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g32a374c1dda_0_49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7" name="Google Shape;187;g32a374c1dda_0_49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2a374c1dda_0_5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g32a374c1dda_0_50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4" name="Google Shape;194;g32a374c1dda_0_50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2a374c1dda_0_5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g32a374c1dda_0_5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2" name="Google Shape;202;g32a374c1dda_0_5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2a374c1dda_0_40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g32a374c1dda_0_40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0" name="Google Shape;210;g32a374c1dda_0_40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9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9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1" name="Google Shape;21;p4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5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3" name="Google Shape;33;p5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5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5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3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53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53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53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53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5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5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5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5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5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5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5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5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5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56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4" name="Google Shape;64;p56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5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5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5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57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57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2" name="Google Shape;72;p5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5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5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58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5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5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5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9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59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5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5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5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4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4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4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4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" name="Google Shape;15;p48"/>
          <p:cNvSpPr/>
          <p:nvPr/>
        </p:nvSpPr>
        <p:spPr>
          <a:xfrm>
            <a:off x="0" y="6356350"/>
            <a:ext cx="12192000" cy="501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48"/>
          <p:cNvSpPr/>
          <p:nvPr/>
        </p:nvSpPr>
        <p:spPr>
          <a:xfrm>
            <a:off x="0" y="6176962"/>
            <a:ext cx="12192000" cy="1793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ome - Nurul Fikri Academy" id="17" name="Google Shape;17;p48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961119" y="334008"/>
            <a:ext cx="2905761" cy="508887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b="1" lang="en-GB" sz="4800"/>
              <a:t>Struktur Data Array</a:t>
            </a:r>
            <a:endParaRPr/>
          </a:p>
        </p:txBody>
      </p:sp>
      <p:sp>
        <p:nvSpPr>
          <p:cNvPr id="93" name="Google Shape;93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GB"/>
              <a:t>PHP: Hypertext Preprocessor</a:t>
            </a:r>
            <a:endParaRPr/>
          </a:p>
        </p:txBody>
      </p:sp>
      <p:sp>
        <p:nvSpPr>
          <p:cNvPr id="94" name="Google Shape;9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b="1" lang="en-GB" sz="1600">
                <a:solidFill>
                  <a:schemeClr val="lt1"/>
                </a:solidFill>
              </a:rPr>
              <a:t>‹#›</a:t>
            </a:fld>
            <a:endParaRPr b="1" sz="1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 txBox="1"/>
          <p:nvPr>
            <p:ph type="title"/>
          </p:nvPr>
        </p:nvSpPr>
        <p:spPr>
          <a:xfrm>
            <a:off x="838200" y="681038"/>
            <a:ext cx="10515600" cy="9963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lang="en-GB" sz="2800">
                <a:latin typeface="Calibri"/>
                <a:ea typeface="Calibri"/>
                <a:cs typeface="Calibri"/>
                <a:sym typeface="Calibri"/>
              </a:rPr>
              <a:t>TUJUAN PEMBELAJARAN</a:t>
            </a:r>
            <a:endParaRPr/>
          </a:p>
        </p:txBody>
      </p:sp>
      <p:sp>
        <p:nvSpPr>
          <p:cNvPr id="101" name="Google Shape;101;p2"/>
          <p:cNvSpPr txBox="1"/>
          <p:nvPr>
            <p:ph idx="1" type="body"/>
          </p:nvPr>
        </p:nvSpPr>
        <p:spPr>
          <a:xfrm>
            <a:off x="947738" y="1628775"/>
            <a:ext cx="10152061" cy="4548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Calibri"/>
              <a:buAutoNum type="arabicPeriod"/>
            </a:pPr>
            <a:r>
              <a:rPr lang="en-GB" sz="2400"/>
              <a:t>Memahami dan mengerti tentang struktur data array atau data kolektif di pemrograman PHP. </a:t>
            </a:r>
            <a:endParaRPr sz="2400"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Calibri"/>
              <a:buAutoNum type="arabicPeriod"/>
            </a:pPr>
            <a:r>
              <a:rPr lang="en-GB" sz="2400"/>
              <a:t>Mampu membuat dan menggunakan struktur data array di pemrograman PHP.</a:t>
            </a:r>
            <a:endParaRPr sz="2400"/>
          </a:p>
        </p:txBody>
      </p:sp>
      <p:sp>
        <p:nvSpPr>
          <p:cNvPr id="102" name="Google Shape;102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b="1" lang="en-GB" sz="1600">
                <a:solidFill>
                  <a:schemeClr val="lt1"/>
                </a:solidFill>
              </a:rPr>
              <a:t>‹#›</a:t>
            </a:fld>
            <a:endParaRPr b="1" sz="1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28fbe7acd7_0_4"/>
          <p:cNvSpPr txBox="1"/>
          <p:nvPr>
            <p:ph type="title"/>
          </p:nvPr>
        </p:nvSpPr>
        <p:spPr>
          <a:xfrm>
            <a:off x="838200" y="681038"/>
            <a:ext cx="10515600" cy="99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lang="en-GB" sz="2800"/>
              <a:t>Array</a:t>
            </a:r>
            <a:endParaRPr/>
          </a:p>
        </p:txBody>
      </p:sp>
      <p:sp>
        <p:nvSpPr>
          <p:cNvPr id="109" name="Google Shape;109;g328fbe7acd7_0_4"/>
          <p:cNvSpPr txBox="1"/>
          <p:nvPr>
            <p:ph idx="1" type="body"/>
          </p:nvPr>
        </p:nvSpPr>
        <p:spPr>
          <a:xfrm>
            <a:off x="947738" y="1628775"/>
            <a:ext cx="10152000" cy="45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0" lvl="0" marL="4572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-GB" sz="2400"/>
              <a:t>Array adalah struktur data yang digunakan untuk menyimpan sekumpulan nilai dalam satu variabel.</a:t>
            </a:r>
            <a:endParaRPr sz="2400"/>
          </a:p>
          <a:p>
            <a:pPr indent="-381000" lvl="0" marL="457200" rtl="0" algn="just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-GB" sz="2400"/>
              <a:t>Urutan/pemetaan array ditulis antara key dan value.</a:t>
            </a:r>
            <a:endParaRPr sz="2400"/>
          </a:p>
          <a:p>
            <a:pPr indent="-381000" lvl="0" marL="4572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-GB" sz="2400"/>
              <a:t>Array terdiri dari beberapa jenis (numerik, asosiatif, multi dimensi).</a:t>
            </a:r>
            <a:endParaRPr sz="2400"/>
          </a:p>
          <a:p>
            <a:pPr indent="-381000" lvl="0" marL="4572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-GB" sz="2400"/>
              <a:t>Key bisa berupa angka positif ataupun string. Jika key tidak didefinisikan, key/index dimulai dari nol.</a:t>
            </a:r>
            <a:endParaRPr sz="2400"/>
          </a:p>
          <a:p>
            <a:pPr indent="-381000" lvl="0" marL="4572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-GB" sz="2400"/>
              <a:t>Value dapat bertipe data apa saja.</a:t>
            </a:r>
            <a:endParaRPr sz="2400"/>
          </a:p>
        </p:txBody>
      </p:sp>
      <p:sp>
        <p:nvSpPr>
          <p:cNvPr id="110" name="Google Shape;110;g328fbe7acd7_0_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b="1" lang="en-GB" sz="1600">
                <a:solidFill>
                  <a:schemeClr val="lt1"/>
                </a:solidFill>
              </a:rPr>
              <a:t>‹#›</a:t>
            </a:fld>
            <a:endParaRPr b="1" sz="1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28fbe7acd7_0_12"/>
          <p:cNvSpPr txBox="1"/>
          <p:nvPr>
            <p:ph type="title"/>
          </p:nvPr>
        </p:nvSpPr>
        <p:spPr>
          <a:xfrm>
            <a:off x="838200" y="681038"/>
            <a:ext cx="10515600" cy="99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lang="en-GB" sz="2800"/>
              <a:t>Array Numerik (</a:t>
            </a:r>
            <a:r>
              <a:rPr b="1" lang="en-GB" sz="2800"/>
              <a:t>1 Dimensi</a:t>
            </a:r>
            <a:r>
              <a:rPr b="1" lang="en-GB" sz="2800"/>
              <a:t>)</a:t>
            </a:r>
            <a:endParaRPr/>
          </a:p>
        </p:txBody>
      </p:sp>
      <p:sp>
        <p:nvSpPr>
          <p:cNvPr id="117" name="Google Shape;117;g328fbe7acd7_0_1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b="1" lang="en-GB" sz="1600">
                <a:solidFill>
                  <a:schemeClr val="lt1"/>
                </a:solidFill>
              </a:rPr>
              <a:t>‹#›</a:t>
            </a:fld>
            <a:endParaRPr b="1" sz="1600">
              <a:solidFill>
                <a:schemeClr val="lt1"/>
              </a:solidFill>
            </a:endParaRPr>
          </a:p>
        </p:txBody>
      </p:sp>
      <p:sp>
        <p:nvSpPr>
          <p:cNvPr id="118" name="Google Shape;118;g328fbe7acd7_0_12"/>
          <p:cNvSpPr txBox="1"/>
          <p:nvPr>
            <p:ph idx="1" type="body"/>
          </p:nvPr>
        </p:nvSpPr>
        <p:spPr>
          <a:xfrm>
            <a:off x="947750" y="4570675"/>
            <a:ext cx="10152000" cy="16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GB" sz="2000"/>
              <a:t>Array numerik biasa disebut </a:t>
            </a:r>
            <a:r>
              <a:rPr lang="en-GB" sz="2000">
                <a:highlight>
                  <a:srgbClr val="FFFF00"/>
                </a:highlight>
              </a:rPr>
              <a:t>array 1 dimensi</a:t>
            </a:r>
            <a:r>
              <a:rPr lang="en-GB" sz="2000"/>
              <a:t>. </a:t>
            </a:r>
            <a:endParaRPr sz="2000"/>
          </a:p>
          <a:p>
            <a:pPr indent="-355600" lvl="0" marL="4572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GB" sz="2000"/>
              <a:t>Key pada array numerik ditulis berdasarkan index yang dimulai dari angka </a:t>
            </a:r>
            <a:r>
              <a:rPr lang="en-GB" sz="2000">
                <a:highlight>
                  <a:srgbClr val="FFFF00"/>
                </a:highlight>
              </a:rPr>
              <a:t>0 (nol)</a:t>
            </a:r>
            <a:r>
              <a:rPr lang="en-GB" sz="2000"/>
              <a:t>.</a:t>
            </a:r>
            <a:endParaRPr sz="2000"/>
          </a:p>
          <a:p>
            <a:pPr indent="-355600" lvl="0" marL="4572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GB" sz="2000"/>
              <a:t>Ada 2 cara membuat array numerik:</a:t>
            </a:r>
            <a:endParaRPr sz="2000"/>
          </a:p>
          <a:p>
            <a:pPr indent="-355600" lvl="1" marL="9144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GB" sz="2000"/>
              <a:t>Dibuat dengan fungsi </a:t>
            </a:r>
            <a:r>
              <a:rPr lang="en-GB" sz="2000">
                <a:highlight>
                  <a:srgbClr val="FFFF00"/>
                </a:highlight>
              </a:rPr>
              <a:t>array()</a:t>
            </a:r>
            <a:endParaRPr sz="2000">
              <a:highlight>
                <a:srgbClr val="FFFF00"/>
              </a:highlight>
            </a:endParaRPr>
          </a:p>
          <a:p>
            <a:pPr indent="-355600" lvl="1" marL="9144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GB" sz="2000"/>
              <a:t>Dibuat dengan notasi kurung siku </a:t>
            </a:r>
            <a:r>
              <a:rPr lang="en-GB" sz="2000">
                <a:highlight>
                  <a:srgbClr val="FFFF00"/>
                </a:highlight>
              </a:rPr>
              <a:t>[ ]</a:t>
            </a:r>
            <a:endParaRPr sz="2000">
              <a:highlight>
                <a:srgbClr val="FFFF00"/>
              </a:highlight>
            </a:endParaRPr>
          </a:p>
        </p:txBody>
      </p:sp>
      <p:pic>
        <p:nvPicPr>
          <p:cNvPr id="119" name="Google Shape;119;g328fbe7acd7_0_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68504" y="1493850"/>
            <a:ext cx="5454993" cy="291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2a374c1dda_0_370"/>
          <p:cNvSpPr txBox="1"/>
          <p:nvPr>
            <p:ph type="title"/>
          </p:nvPr>
        </p:nvSpPr>
        <p:spPr>
          <a:xfrm>
            <a:off x="838200" y="681038"/>
            <a:ext cx="10515600" cy="99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lang="en-GB" sz="2800"/>
              <a:t>Array Asosiatif (Associative)</a:t>
            </a:r>
            <a:endParaRPr/>
          </a:p>
        </p:txBody>
      </p:sp>
      <p:sp>
        <p:nvSpPr>
          <p:cNvPr id="126" name="Google Shape;126;g32a374c1dda_0_37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b="1" lang="en-GB" sz="1600">
                <a:solidFill>
                  <a:schemeClr val="lt1"/>
                </a:solidFill>
              </a:rPr>
              <a:t>‹#›</a:t>
            </a:fld>
            <a:endParaRPr b="1" sz="1600">
              <a:solidFill>
                <a:schemeClr val="lt1"/>
              </a:solidFill>
            </a:endParaRPr>
          </a:p>
        </p:txBody>
      </p:sp>
      <p:sp>
        <p:nvSpPr>
          <p:cNvPr id="127" name="Google Shape;127;g32a374c1dda_0_370"/>
          <p:cNvSpPr txBox="1"/>
          <p:nvPr>
            <p:ph idx="1" type="body"/>
          </p:nvPr>
        </p:nvSpPr>
        <p:spPr>
          <a:xfrm>
            <a:off x="947750" y="4570675"/>
            <a:ext cx="10152000" cy="16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GB" sz="2000"/>
              <a:t>Array asosiatif merupakan array yang kunci (key) ditentukan oleh pengguna sebagai indeks.</a:t>
            </a:r>
            <a:endParaRPr sz="2000"/>
          </a:p>
          <a:p>
            <a:pPr indent="-355600" lvl="0" marL="4572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GB" sz="2000"/>
              <a:t>Konsepnya sama seperti array 1 dimensi, perbedaannya hanya pada penulisan kunci (key) saja.</a:t>
            </a:r>
            <a:endParaRPr sz="2000"/>
          </a:p>
          <a:p>
            <a:pPr indent="-355600" lvl="0" marL="457200" rtl="0" algn="just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GB" sz="2000"/>
              <a:t>Key pada array asosiatif biasanya ditulis menggunakan </a:t>
            </a:r>
            <a:r>
              <a:rPr lang="en-GB" sz="2000">
                <a:highlight>
                  <a:srgbClr val="FFFF00"/>
                </a:highlight>
              </a:rPr>
              <a:t>string</a:t>
            </a:r>
            <a:r>
              <a:rPr lang="en-GB" sz="2000"/>
              <a:t>.</a:t>
            </a:r>
            <a:endParaRPr sz="2000">
              <a:highlight>
                <a:srgbClr val="FFFF00"/>
              </a:highlight>
            </a:endParaRPr>
          </a:p>
        </p:txBody>
      </p:sp>
      <p:pic>
        <p:nvPicPr>
          <p:cNvPr id="128" name="Google Shape;128;g32a374c1dda_0_370"/>
          <p:cNvPicPr preferRelativeResize="0"/>
          <p:nvPr/>
        </p:nvPicPr>
        <p:blipFill rotWithShape="1">
          <a:blip r:embed="rId3">
            <a:alphaModFix/>
          </a:blip>
          <a:srcRect b="3943" l="38253" r="39319" t="25129"/>
          <a:stretch/>
        </p:blipFill>
        <p:spPr>
          <a:xfrm>
            <a:off x="5095719" y="1493850"/>
            <a:ext cx="2000561" cy="289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2a374c1dda_0_488"/>
          <p:cNvSpPr txBox="1"/>
          <p:nvPr>
            <p:ph type="title"/>
          </p:nvPr>
        </p:nvSpPr>
        <p:spPr>
          <a:xfrm>
            <a:off x="838200" y="681038"/>
            <a:ext cx="10515600" cy="99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lang="en-GB" sz="2800"/>
              <a:t>Array Multi Dimensi (Multi-dimensional)</a:t>
            </a:r>
            <a:endParaRPr/>
          </a:p>
        </p:txBody>
      </p:sp>
      <p:sp>
        <p:nvSpPr>
          <p:cNvPr id="135" name="Google Shape;135;g32a374c1dda_0_48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b="1" lang="en-GB" sz="1600">
                <a:solidFill>
                  <a:schemeClr val="lt1"/>
                </a:solidFill>
              </a:rPr>
              <a:t>‹#›</a:t>
            </a:fld>
            <a:endParaRPr b="1" sz="1600">
              <a:solidFill>
                <a:schemeClr val="lt1"/>
              </a:solidFill>
            </a:endParaRPr>
          </a:p>
        </p:txBody>
      </p:sp>
      <p:sp>
        <p:nvSpPr>
          <p:cNvPr id="136" name="Google Shape;136;g32a374c1dda_0_488"/>
          <p:cNvSpPr txBox="1"/>
          <p:nvPr>
            <p:ph idx="1" type="body"/>
          </p:nvPr>
        </p:nvSpPr>
        <p:spPr>
          <a:xfrm>
            <a:off x="947750" y="4570675"/>
            <a:ext cx="10152000" cy="16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GB" sz="2000"/>
              <a:t>Array multi dimensi adalah bentuk array yang memiliki lebih dari satu dimensi.</a:t>
            </a:r>
            <a:endParaRPr sz="2000"/>
          </a:p>
          <a:p>
            <a:pPr indent="-355600" lvl="0" marL="4572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GB" sz="2000"/>
              <a:t>Konsepnya sama seperti array numerik atau asosiatif.</a:t>
            </a:r>
            <a:endParaRPr sz="2000"/>
          </a:p>
          <a:p>
            <a:pPr indent="-355600" lvl="0" marL="4572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GB" sz="2000"/>
              <a:t>Perbedaannya, dalam sebuah array multi dimensi akan ditulis array-array yang lain sehingga seperti array yang ditumpuk.</a:t>
            </a:r>
            <a:endParaRPr sz="2000">
              <a:highlight>
                <a:srgbClr val="FFFF00"/>
              </a:highlight>
            </a:endParaRPr>
          </a:p>
        </p:txBody>
      </p:sp>
      <p:pic>
        <p:nvPicPr>
          <p:cNvPr id="137" name="Google Shape;137;g32a374c1dda_0_4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5483" y="1493853"/>
            <a:ext cx="5821035" cy="2897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2a374c1dda_0_14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b="1" lang="en-GB" sz="4800"/>
              <a:t>Latihan 1</a:t>
            </a:r>
            <a:endParaRPr/>
          </a:p>
        </p:txBody>
      </p:sp>
      <p:sp>
        <p:nvSpPr>
          <p:cNvPr id="144" name="Google Shape;144;g32a374c1dda_0_1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2a374c1dda_0_98"/>
          <p:cNvSpPr txBox="1"/>
          <p:nvPr>
            <p:ph type="title"/>
          </p:nvPr>
        </p:nvSpPr>
        <p:spPr>
          <a:xfrm>
            <a:off x="838200" y="681038"/>
            <a:ext cx="10515600" cy="99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lang="en-GB" sz="2800"/>
              <a:t>Array Numerik</a:t>
            </a:r>
            <a:r>
              <a:rPr b="1" lang="en-GB" sz="2800"/>
              <a:t> #1</a:t>
            </a:r>
            <a:endParaRPr/>
          </a:p>
        </p:txBody>
      </p:sp>
      <p:sp>
        <p:nvSpPr>
          <p:cNvPr id="151" name="Google Shape;151;g32a374c1dda_0_9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52" name="Google Shape;152;g32a374c1dda_0_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7750" y="1677350"/>
            <a:ext cx="7768951" cy="3176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2a374c1dda_0_354"/>
          <p:cNvSpPr txBox="1"/>
          <p:nvPr>
            <p:ph type="title"/>
          </p:nvPr>
        </p:nvSpPr>
        <p:spPr>
          <a:xfrm>
            <a:off x="838200" y="681038"/>
            <a:ext cx="10515600" cy="99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lang="en-GB" sz="2800"/>
              <a:t>Array Numerik #2</a:t>
            </a:r>
            <a:endParaRPr/>
          </a:p>
        </p:txBody>
      </p:sp>
      <p:sp>
        <p:nvSpPr>
          <p:cNvPr id="159" name="Google Shape;159;g32a374c1dda_0_35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60" name="Google Shape;160;g32a374c1dda_0_3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7750" y="1677349"/>
            <a:ext cx="6879807" cy="4323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2a374c1dda_0_381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b="1" lang="en-GB" sz="4800"/>
              <a:t>Latihan 2</a:t>
            </a:r>
            <a:endParaRPr/>
          </a:p>
        </p:txBody>
      </p:sp>
      <p:sp>
        <p:nvSpPr>
          <p:cNvPr id="167" name="Google Shape;167;g32a374c1dda_0_38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2a374c1dda_0_387"/>
          <p:cNvSpPr txBox="1"/>
          <p:nvPr>
            <p:ph type="title"/>
          </p:nvPr>
        </p:nvSpPr>
        <p:spPr>
          <a:xfrm>
            <a:off x="838200" y="681038"/>
            <a:ext cx="10515600" cy="99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lang="en-GB" sz="2800"/>
              <a:t>Array Asosiatif #1</a:t>
            </a:r>
            <a:endParaRPr/>
          </a:p>
        </p:txBody>
      </p:sp>
      <p:sp>
        <p:nvSpPr>
          <p:cNvPr id="174" name="Google Shape;174;g32a374c1dda_0_38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75" name="Google Shape;175;g32a374c1dda_0_3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7750" y="1677350"/>
            <a:ext cx="6935249" cy="332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2a374c1dda_0_395"/>
          <p:cNvSpPr txBox="1"/>
          <p:nvPr>
            <p:ph type="title"/>
          </p:nvPr>
        </p:nvSpPr>
        <p:spPr>
          <a:xfrm>
            <a:off x="838200" y="681038"/>
            <a:ext cx="10515600" cy="99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lang="en-GB" sz="2800"/>
              <a:t>Array Asosiatif #2</a:t>
            </a:r>
            <a:endParaRPr/>
          </a:p>
        </p:txBody>
      </p:sp>
      <p:sp>
        <p:nvSpPr>
          <p:cNvPr id="182" name="Google Shape;182;g32a374c1dda_0_39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83" name="Google Shape;183;g32a374c1dda_0_3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7749" y="1677351"/>
            <a:ext cx="4004202" cy="34339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2a374c1dda_0_496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b="1" lang="en-GB" sz="4800"/>
              <a:t>Latihan 3</a:t>
            </a:r>
            <a:endParaRPr/>
          </a:p>
        </p:txBody>
      </p:sp>
      <p:sp>
        <p:nvSpPr>
          <p:cNvPr id="190" name="Google Shape;190;g32a374c1dda_0_49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2a374c1dda_0_502"/>
          <p:cNvSpPr txBox="1"/>
          <p:nvPr>
            <p:ph type="title"/>
          </p:nvPr>
        </p:nvSpPr>
        <p:spPr>
          <a:xfrm>
            <a:off x="838200" y="681038"/>
            <a:ext cx="10515600" cy="99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lang="en-GB" sz="2800"/>
              <a:t>Array Multi Dimensi #1</a:t>
            </a:r>
            <a:endParaRPr/>
          </a:p>
        </p:txBody>
      </p:sp>
      <p:sp>
        <p:nvSpPr>
          <p:cNvPr id="197" name="Google Shape;197;g32a374c1dda_0_50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98" name="Google Shape;198;g32a374c1dda_0_5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7750" y="1677350"/>
            <a:ext cx="6935249" cy="24803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2a374c1dda_0_513"/>
          <p:cNvSpPr txBox="1"/>
          <p:nvPr>
            <p:ph type="title"/>
          </p:nvPr>
        </p:nvSpPr>
        <p:spPr>
          <a:xfrm>
            <a:off x="838200" y="681038"/>
            <a:ext cx="10515600" cy="99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lang="en-GB" sz="2800"/>
              <a:t>Array Multi Dimensi #2</a:t>
            </a:r>
            <a:endParaRPr/>
          </a:p>
        </p:txBody>
      </p:sp>
      <p:sp>
        <p:nvSpPr>
          <p:cNvPr id="205" name="Google Shape;205;g32a374c1dda_0_51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06" name="Google Shape;206;g32a374c1dda_0_5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7750" y="1628775"/>
            <a:ext cx="10515598" cy="3648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2a374c1dda_0_403"/>
          <p:cNvSpPr txBox="1"/>
          <p:nvPr>
            <p:ph type="title"/>
          </p:nvPr>
        </p:nvSpPr>
        <p:spPr>
          <a:xfrm>
            <a:off x="838200" y="681038"/>
            <a:ext cx="10515600" cy="99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lang="en-GB" sz="2800"/>
              <a:t>Referensi</a:t>
            </a:r>
            <a:endParaRPr/>
          </a:p>
        </p:txBody>
      </p:sp>
      <p:sp>
        <p:nvSpPr>
          <p:cNvPr id="213" name="Google Shape;213;g32a374c1dda_0_403"/>
          <p:cNvSpPr txBox="1"/>
          <p:nvPr>
            <p:ph idx="1" type="body"/>
          </p:nvPr>
        </p:nvSpPr>
        <p:spPr>
          <a:xfrm>
            <a:off x="947738" y="1628775"/>
            <a:ext cx="10152000" cy="45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Calibri"/>
              <a:buChar char="•"/>
            </a:pPr>
            <a:r>
              <a:rPr lang="en-GB" sz="2400"/>
              <a:t>https://www.php.net/</a:t>
            </a:r>
            <a:endParaRPr sz="2400"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Calibri"/>
              <a:buChar char="•"/>
            </a:pPr>
            <a:r>
              <a:rPr lang="en-GB" sz="2400"/>
              <a:t>https://www.w3schools.com/</a:t>
            </a:r>
            <a:endParaRPr sz="2400"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Calibri"/>
              <a:buChar char="•"/>
            </a:pPr>
            <a:r>
              <a:rPr lang="en-GB" sz="2400"/>
              <a:t>https://www.tutorialspoint.com/</a:t>
            </a:r>
            <a:endParaRPr sz="2400"/>
          </a:p>
        </p:txBody>
      </p:sp>
      <p:sp>
        <p:nvSpPr>
          <p:cNvPr id="214" name="Google Shape;214;g32a374c1dda_0_40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2024-08-27T01:55:47Z</dcterms:created>
  <dc:creator>Alwi Putra Supendi</dc:creator>
</cp:coreProperties>
</file>
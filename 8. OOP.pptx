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45">
          <p15:clr>
            <a:srgbClr val="A4A3A4"/>
          </p15:clr>
        </p15:guide>
        <p15:guide id="2" orient="horz" pos="1026">
          <p15:clr>
            <a:srgbClr val="A4A3A4"/>
          </p15:clr>
        </p15:guide>
        <p15:guide id="3" pos="3840">
          <p15:clr>
            <a:srgbClr val="A4A3A4"/>
          </p15:clr>
        </p15:guide>
        <p15:guide id="4" pos="7015">
          <p15:clr>
            <a:srgbClr val="A4A3A4"/>
          </p15:clr>
        </p15:guide>
        <p15:guide id="5" pos="597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3rmQFWhcrG4himoT7d15mTnT/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5" orient="horz"/>
        <p:guide pos="1026" orient="horz"/>
        <p:guide pos="3840"/>
        <p:guide pos="7015"/>
        <p:guide pos="59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ee86b691a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2ee86b691a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2ee86b691a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ee86b691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2ee86b691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2ee86b691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ee86b691a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2ee86b691a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2ee86b691a_0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ee86b691a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2ee86b691a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2ee86b691a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ee86b691a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ee86b691a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2ee86b691a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8fbe7acd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28fbe7acd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28fbe7acd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ee86b691a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2ee86b691a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2ee86b691a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a374c1dd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2a374c1dd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2a374c1dda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a374c1dda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2a374c1dda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2a374c1dda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a5d3ce59a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2a5d3ce59a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2a5d3ce59a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a374c1dda_0_3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2a374c1dda_0_3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2a374c1dda_0_3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a374c1dda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2a374c1dda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2a374c1dda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a5d3ce59a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2a5d3ce59a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2a5d3ce59a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a374c1dda_0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2a374c1dda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2a374c1dda_0_4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5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5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48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8"/>
          <p:cNvSpPr/>
          <p:nvPr/>
        </p:nvSpPr>
        <p:spPr>
          <a:xfrm>
            <a:off x="0" y="6176962"/>
            <a:ext cx="12192000" cy="179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 - Nurul Fikri Academy" id="17" name="Google Shape;17;p4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961119" y="334008"/>
            <a:ext cx="2905761" cy="5088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Object Oriented Programming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PHP: Hypertext Preprocessor</a:t>
            </a:r>
            <a:endParaRPr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681038"/>
            <a:ext cx="10515600" cy="996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latin typeface="Calibri"/>
                <a:ea typeface="Calibri"/>
                <a:cs typeface="Calibri"/>
                <a:sym typeface="Calibri"/>
              </a:rPr>
              <a:t>TUJUAN PEMBELAJARAN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947738" y="1628775"/>
            <a:ext cx="10152061" cy="4548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Memahami dan mengerti tentang object oriented programming di PHP. 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Mampu mengimplementasikan konsep object oriented programming pada program PHP.</a:t>
            </a:r>
            <a:endParaRPr sz="2400"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ee86b691a_0_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9" name="Google Shape;109;g32ee86b691a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2092900"/>
            <a:ext cx="3140076" cy="212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2ee86b691a_0_85"/>
          <p:cNvSpPr txBox="1"/>
          <p:nvPr/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Calibri"/>
                <a:ea typeface="Calibri"/>
                <a:cs typeface="Calibri"/>
                <a:sym typeface="Calibri"/>
              </a:rPr>
              <a:t>Paradigma Pemrograman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2ee86b691a_0_85"/>
          <p:cNvSpPr txBox="1"/>
          <p:nvPr>
            <p:ph idx="1" type="body"/>
          </p:nvPr>
        </p:nvSpPr>
        <p:spPr>
          <a:xfrm>
            <a:off x="4261246" y="1628775"/>
            <a:ext cx="68385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Paradigma pemrograman merujuk pada suatu kerangka </a:t>
            </a:r>
            <a:r>
              <a:rPr lang="en-GB" sz="2400">
                <a:highlight>
                  <a:srgbClr val="FFFF00"/>
                </a:highlight>
              </a:rPr>
              <a:t>konseptual</a:t>
            </a:r>
            <a:r>
              <a:rPr lang="en-GB" sz="2400"/>
              <a:t> atau pola dasar yang memberikan panduan dalam merancang dan mengembangkan program komputer.</a:t>
            </a:r>
            <a:endParaRPr sz="24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Untuk menciptakan perangkat lunak yang </a:t>
            </a:r>
            <a:r>
              <a:rPr lang="en-GB" sz="2400">
                <a:highlight>
                  <a:srgbClr val="FFFF00"/>
                </a:highlight>
              </a:rPr>
              <a:t>efisien, terstruktur, dan mudah dipelihara</a:t>
            </a:r>
            <a:r>
              <a:rPr lang="en-GB" sz="2400"/>
              <a:t>, pengembang menggunakan berbagai paradigma pemrograman. </a:t>
            </a:r>
            <a:endParaRPr sz="24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Dua paradigma yang paling umum digunakan:</a:t>
            </a:r>
            <a:endParaRPr sz="2400"/>
          </a:p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Procedural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Object Oriented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ee86b691a_0_0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Procedural </a:t>
            </a:r>
            <a:r>
              <a:rPr b="1" lang="en-GB" sz="2800"/>
              <a:t>vs Object-Oriented</a:t>
            </a:r>
            <a:endParaRPr/>
          </a:p>
        </p:txBody>
      </p:sp>
      <p:sp>
        <p:nvSpPr>
          <p:cNvPr id="118" name="Google Shape;118;g32ee86b691a_0_0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Procedural</a:t>
            </a:r>
            <a:r>
              <a:rPr lang="en-GB" sz="2400"/>
              <a:t>: Cara menulis program dengan terstruktur, di mana kode akan diorganisir menjadi fungsi-fungsi berbeda dan menjalankannya dalam </a:t>
            </a:r>
            <a:r>
              <a:rPr lang="en-GB" sz="2400">
                <a:highlight>
                  <a:srgbClr val="FFFF00"/>
                </a:highlight>
              </a:rPr>
              <a:t>urutan tertentu</a:t>
            </a:r>
            <a:r>
              <a:rPr lang="en-GB" sz="2400"/>
              <a:t>.</a:t>
            </a:r>
            <a:endParaRPr sz="2400"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Contoh: COBOL, Pascal, C, PHP</a:t>
            </a:r>
            <a:endParaRPr sz="24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Object-Oriented</a:t>
            </a:r>
            <a:r>
              <a:rPr lang="en-GB" sz="2400"/>
              <a:t>: Konsep pemrograman yang memungkinkan pengembang untuk membuat kode yang terorganisir, modular, dan mudah dipelihara dengan menggunakan </a:t>
            </a:r>
            <a:r>
              <a:rPr lang="en-GB" sz="2400">
                <a:highlight>
                  <a:srgbClr val="FFFF00"/>
                </a:highlight>
              </a:rPr>
              <a:t>class dan object</a:t>
            </a:r>
            <a:r>
              <a:rPr lang="en-GB" sz="2400"/>
              <a:t>.</a:t>
            </a:r>
            <a:endParaRPr sz="2400"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Contoh: Java, Ruby, Python, PHP5+</a:t>
            </a:r>
            <a:endParaRPr sz="2400"/>
          </a:p>
        </p:txBody>
      </p:sp>
      <p:sp>
        <p:nvSpPr>
          <p:cNvPr id="119" name="Google Shape;119;g32ee86b691a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ee86b691a_0_174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Procedural vs Object-Oriented</a:t>
            </a:r>
            <a:endParaRPr/>
          </a:p>
        </p:txBody>
      </p:sp>
      <p:sp>
        <p:nvSpPr>
          <p:cNvPr id="126" name="Google Shape;126;g32ee86b691a_0_174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Procedural</a:t>
            </a:r>
            <a:endParaRPr sz="2400"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Kode dieksekusi langkah demi langkah.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Memecah program menjadi bagian-bagian kecil.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Disebut prosedur, subroutine, atau function.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Linear / Top-to-Bottom.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Object-Oriented</a:t>
            </a:r>
            <a:endParaRPr sz="2400"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Kode bisa dieksekusi secara bersamaan.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Kode ditulis berdasarkan class dan object.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Object bisa saling berinteraksi.</a:t>
            </a:r>
            <a:endParaRPr/>
          </a:p>
        </p:txBody>
      </p:sp>
      <p:sp>
        <p:nvSpPr>
          <p:cNvPr id="127" name="Google Shape;127;g32ee86b691a_0_1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ee86b691a_0_181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Konsep OOP</a:t>
            </a:r>
            <a:endParaRPr/>
          </a:p>
        </p:txBody>
      </p:sp>
      <p:sp>
        <p:nvSpPr>
          <p:cNvPr id="134" name="Google Shape;134;g32ee86b691a_0_181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Pada PHP, kode OOP dibuat dengan menggunakan class dan object.</a:t>
            </a:r>
            <a:endParaRPr sz="24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Class</a:t>
            </a:r>
            <a:endParaRPr b="1" sz="2400"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/>
              <a:t>Class adalah </a:t>
            </a:r>
            <a:r>
              <a:rPr lang="en-GB" sz="2400"/>
              <a:t>template atau </a:t>
            </a:r>
            <a:r>
              <a:rPr lang="en-GB" sz="2400">
                <a:highlight>
                  <a:srgbClr val="FFFF00"/>
                </a:highlight>
              </a:rPr>
              <a:t>blueprint</a:t>
            </a:r>
            <a:r>
              <a:rPr lang="en-GB" sz="2400"/>
              <a:t> untuk membuat object.</a:t>
            </a:r>
            <a:endParaRPr sz="2400"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Class mendefinisikan object.</a:t>
            </a:r>
            <a:endParaRPr sz="2400"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Class menyimpan data dan perilaku yang disebut </a:t>
            </a:r>
            <a:r>
              <a:rPr lang="en-GB" sz="2400">
                <a:highlight>
                  <a:srgbClr val="FFFF00"/>
                </a:highlight>
              </a:rPr>
              <a:t>property</a:t>
            </a:r>
            <a:r>
              <a:rPr lang="en-GB" sz="2400"/>
              <a:t> dan </a:t>
            </a:r>
            <a:r>
              <a:rPr lang="en-GB" sz="2400">
                <a:highlight>
                  <a:srgbClr val="FFFF00"/>
                </a:highlight>
              </a:rPr>
              <a:t>method</a:t>
            </a:r>
            <a:r>
              <a:rPr lang="en-GB" sz="2400"/>
              <a:t>.</a:t>
            </a:r>
            <a:endParaRPr sz="2400"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Class dibuat dengan keyword </a:t>
            </a:r>
            <a:r>
              <a:rPr lang="en-GB" sz="2400">
                <a:highlight>
                  <a:srgbClr val="FFFF00"/>
                </a:highlight>
              </a:rPr>
              <a:t>class</a:t>
            </a:r>
            <a:r>
              <a:rPr lang="en-GB" sz="2400"/>
              <a:t>.</a:t>
            </a:r>
            <a:endParaRPr sz="24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Object</a:t>
            </a:r>
            <a:endParaRPr b="1" sz="2400"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Object adalah </a:t>
            </a:r>
            <a:r>
              <a:rPr lang="en-GB" sz="2400">
                <a:highlight>
                  <a:srgbClr val="FFFF00"/>
                </a:highlight>
              </a:rPr>
              <a:t>instance</a:t>
            </a:r>
            <a:r>
              <a:rPr lang="en-GB" sz="2400"/>
              <a:t> (implementasi) dari class.</a:t>
            </a:r>
            <a:endParaRPr sz="2400"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Banyak object bisa dibuat menggunakan satu class.</a:t>
            </a:r>
            <a:endParaRPr sz="2400"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Object dibuat dengan keyword </a:t>
            </a:r>
            <a:r>
              <a:rPr lang="en-GB" sz="2400">
                <a:highlight>
                  <a:srgbClr val="FFFF00"/>
                </a:highlight>
              </a:rPr>
              <a:t>new</a:t>
            </a:r>
            <a:r>
              <a:rPr lang="en-GB" sz="2400"/>
              <a:t>.</a:t>
            </a:r>
            <a:endParaRPr sz="2400"/>
          </a:p>
        </p:txBody>
      </p:sp>
      <p:sp>
        <p:nvSpPr>
          <p:cNvPr id="135" name="Google Shape;135;g32ee86b691a_0_1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ee86b691a_0_188"/>
          <p:cNvSpPr txBox="1"/>
          <p:nvPr>
            <p:ph idx="1" type="body"/>
          </p:nvPr>
        </p:nvSpPr>
        <p:spPr>
          <a:xfrm>
            <a:off x="947744" y="1628775"/>
            <a:ext cx="5049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Class</a:t>
            </a:r>
            <a:endParaRPr sz="2400"/>
          </a:p>
        </p:txBody>
      </p:sp>
      <p:sp>
        <p:nvSpPr>
          <p:cNvPr id="142" name="Google Shape;142;g32ee86b691a_0_188"/>
          <p:cNvSpPr txBox="1"/>
          <p:nvPr>
            <p:ph idx="1" type="body"/>
          </p:nvPr>
        </p:nvSpPr>
        <p:spPr>
          <a:xfrm>
            <a:off x="6172194" y="1628775"/>
            <a:ext cx="5049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Object</a:t>
            </a:r>
            <a:endParaRPr sz="2400"/>
          </a:p>
        </p:txBody>
      </p:sp>
      <p:sp>
        <p:nvSpPr>
          <p:cNvPr id="143" name="Google Shape;143;g32ee86b691a_0_1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" name="Google Shape;144;g32ee86b691a_0_18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Konsep OOP</a:t>
            </a:r>
            <a:endParaRPr/>
          </a:p>
        </p:txBody>
      </p:sp>
      <p:pic>
        <p:nvPicPr>
          <p:cNvPr id="145" name="Google Shape;145;g32ee86b691a_0_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2053575"/>
            <a:ext cx="337185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2ee86b691a_0_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2200" y="2053575"/>
            <a:ext cx="4115071" cy="39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8fbe7acd7_0_12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Contoh Sederhana</a:t>
            </a:r>
            <a:endParaRPr/>
          </a:p>
        </p:txBody>
      </p:sp>
      <p:sp>
        <p:nvSpPr>
          <p:cNvPr id="153" name="Google Shape;153;g328fbe7acd7_0_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54" name="Google Shape;154;g328fbe7acd7_0_12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Untuk membangun sebuah rumah, kita perlu denah sebagai gambaran awal sebelum rumah tersebut dibangun.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Denah tersebut adalah template untuk membuat rumah, dan rumah adalah implementasi dari denah.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Maka denah bisa dianggap sebagai class, sedangkan rumah bisa dianggap sebagai object.</a:t>
            </a:r>
            <a:endParaRPr sz="2000"/>
          </a:p>
        </p:txBody>
      </p:sp>
      <p:pic>
        <p:nvPicPr>
          <p:cNvPr id="155" name="Google Shape;155;g328fbe7acd7_0_12"/>
          <p:cNvPicPr preferRelativeResize="0"/>
          <p:nvPr/>
        </p:nvPicPr>
        <p:blipFill rotWithShape="1">
          <a:blip r:embed="rId3">
            <a:alphaModFix/>
          </a:blip>
          <a:srcRect b="14778" l="0" r="0" t="11109"/>
          <a:stretch/>
        </p:blipFill>
        <p:spPr>
          <a:xfrm>
            <a:off x="2600450" y="1493850"/>
            <a:ext cx="6991099" cy="3006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ee86b691a_0_206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Contoh Sederhana</a:t>
            </a:r>
            <a:endParaRPr/>
          </a:p>
        </p:txBody>
      </p:sp>
      <p:sp>
        <p:nvSpPr>
          <p:cNvPr id="162" name="Google Shape;162;g32ee86b691a_0_20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63" name="Google Shape;163;g32ee86b691a_0_206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Banyak object bisa dibuat hanya dengan 1 class.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Mudahnya, seperti membuat rumah-rumah di perumahan hanya dengan 1 denah saja.</a:t>
            </a:r>
            <a:endParaRPr sz="2000"/>
          </a:p>
        </p:txBody>
      </p:sp>
      <p:pic>
        <p:nvPicPr>
          <p:cNvPr id="164" name="Google Shape;164;g32ee86b691a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117" y="1677356"/>
            <a:ext cx="4099767" cy="273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a374c1dda_0_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1</a:t>
            </a:r>
            <a:endParaRPr/>
          </a:p>
        </p:txBody>
      </p:sp>
      <p:sp>
        <p:nvSpPr>
          <p:cNvPr id="171" name="Google Shape;171;g32a374c1dda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a374c1dda_0_9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Class Fruit </a:t>
            </a:r>
            <a:r>
              <a:rPr b="1" lang="en-GB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#1</a:t>
            </a:r>
            <a:endParaRPr b="1" sz="2800"/>
          </a:p>
        </p:txBody>
      </p:sp>
      <p:sp>
        <p:nvSpPr>
          <p:cNvPr id="178" name="Google Shape;178;g32a374c1dda_0_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9" name="Google Shape;179;g32a374c1dda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1" y="1677338"/>
            <a:ext cx="2955260" cy="437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a5d3ce59a_0_17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r>
              <a:rPr b="1" lang="en-GB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Fruit #2</a:t>
            </a:r>
            <a:endParaRPr b="1" sz="2800"/>
          </a:p>
        </p:txBody>
      </p:sp>
      <p:sp>
        <p:nvSpPr>
          <p:cNvPr id="186" name="Google Shape;186;g32a5d3ce59a_0_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7" name="Google Shape;187;g32a5d3ce59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49" y="1628763"/>
            <a:ext cx="3266674" cy="437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a374c1dda_0_38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2</a:t>
            </a:r>
            <a:endParaRPr/>
          </a:p>
        </p:txBody>
      </p:sp>
      <p:sp>
        <p:nvSpPr>
          <p:cNvPr id="194" name="Google Shape;194;g32a374c1dda_0_3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a374c1dda_0_387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Class Lingkaran </a:t>
            </a:r>
            <a:r>
              <a:rPr b="1" lang="en-GB" sz="2800"/>
              <a:t>#1</a:t>
            </a:r>
            <a:endParaRPr/>
          </a:p>
        </p:txBody>
      </p:sp>
      <p:sp>
        <p:nvSpPr>
          <p:cNvPr id="201" name="Google Shape;201;g32a374c1dda_0_3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2" name="Google Shape;202;g32a374c1dda_0_3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28775"/>
            <a:ext cx="4304100" cy="45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a5d3ce59a_0_31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Object Lingkaran </a:t>
            </a:r>
            <a:r>
              <a:rPr b="1" lang="en-GB" sz="2800"/>
              <a:t>#2</a:t>
            </a:r>
            <a:endParaRPr/>
          </a:p>
        </p:txBody>
      </p:sp>
      <p:sp>
        <p:nvSpPr>
          <p:cNvPr id="209" name="Google Shape;209;g32a5d3ce59a_0_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0" name="Google Shape;210;g32a5d3ce59a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7" y="1677338"/>
            <a:ext cx="7766192" cy="437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a374c1dda_0_403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Referensi</a:t>
            </a:r>
            <a:endParaRPr/>
          </a:p>
        </p:txBody>
      </p:sp>
      <p:sp>
        <p:nvSpPr>
          <p:cNvPr id="217" name="Google Shape;217;g32a374c1dda_0_403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https://www.php.net/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https://www.w3schools.com/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https://www.tutorialspoint.com/</a:t>
            </a:r>
            <a:endParaRPr sz="2400"/>
          </a:p>
        </p:txBody>
      </p:sp>
      <p:sp>
        <p:nvSpPr>
          <p:cNvPr id="218" name="Google Shape;218;g32a374c1dda_0_4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2024-08-27T01:55:47Z</dcterms:created>
  <dc:creator>Alwi Putra Supendi</dc:creator>
</cp:coreProperties>
</file>